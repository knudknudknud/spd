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84" r:id="rId3"/>
    <p:sldId id="285" r:id="rId4"/>
    <p:sldId id="258" r:id="rId5"/>
    <p:sldId id="260" r:id="rId6"/>
    <p:sldId id="261" r:id="rId7"/>
    <p:sldId id="262" r:id="rId8"/>
    <p:sldId id="264" r:id="rId9"/>
    <p:sldId id="265" r:id="rId10"/>
    <p:sldId id="266" r:id="rId11"/>
    <p:sldId id="267" r:id="rId12"/>
    <p:sldId id="274" r:id="rId13"/>
    <p:sldId id="275" r:id="rId14"/>
    <p:sldId id="278" r:id="rId15"/>
    <p:sldId id="276" r:id="rId16"/>
    <p:sldId id="279" r:id="rId17"/>
    <p:sldId id="283" r:id="rId18"/>
    <p:sldId id="281" r:id="rId19"/>
    <p:sldId id="268" r:id="rId20"/>
    <p:sldId id="288"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610"/>
  </p:normalViewPr>
  <p:slideViewPr>
    <p:cSldViewPr snapToGrid="0" snapToObjects="1">
      <p:cViewPr varScale="1">
        <p:scale>
          <a:sx n="84" d="100"/>
          <a:sy n="84" d="100"/>
        </p:scale>
        <p:origin x="79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2T06:58:17.594"/>
    </inkml:context>
    <inkml:brush xml:id="br0">
      <inkml:brushProperty name="width" value="0.05" units="cm"/>
      <inkml:brushProperty name="height" value="0.05" units="cm"/>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2T06:58:18.382"/>
    </inkml:context>
    <inkml:brush xml:id="br0">
      <inkml:brushProperty name="width" value="0.05" units="cm"/>
      <inkml:brushProperty name="height" value="0.05" units="cm"/>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0763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Networks are grown, not engineered: training gives us weights that work, with no documentation. Mechanistic interpretability is the project of recovering that documentation: finding internal units (features, circuits, mechanisms) with a describable role. Motivations: safety auditing before deployment, targeted model editing, and scientific understanding of learned algorithms.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2D1A2-4114-31A7-D78C-B1A96EFCC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0AD9A-3B21-208C-AA4A-E631406C94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7089D0-59B7-5D23-64A6-333DF876475C}"/>
              </a:ext>
            </a:extLst>
          </p:cNvPr>
          <p:cNvSpPr>
            <a:spLocks noGrp="1"/>
          </p:cNvSpPr>
          <p:nvPr>
            <p:ph type="body" idx="1"/>
          </p:nvPr>
        </p:nvSpPr>
        <p:spPr/>
        <p:txBody>
          <a:bodyPr/>
          <a:lstStyle/>
          <a:p>
            <a:r>
              <a:t>Why reverse-engineering is hard, in one picture. Top panel: five feature directions live in a two-neuron activation space, with the neuron axes drawn in; every feature direction has nonzero projection on both axes (shown for f5). Bottom-left: the consequence is polysemanticity: activate a single feature and both neurons fire, so each neuron responds to multiple different features. Bottom-right: the regime where this is viable: superposition arises when inputs are sparse, with most entries v_j equal to zero, so the overlapping directions rarely interfere.</a:t>
            </a:r>
          </a:p>
        </p:txBody>
      </p:sp>
      <p:sp>
        <p:nvSpPr>
          <p:cNvPr id="4" name="Slide Number Placeholder 3">
            <a:extLst>
              <a:ext uri="{FF2B5EF4-FFF2-40B4-BE49-F238E27FC236}">
                <a16:creationId xmlns:a16="http://schemas.microsoft.com/office/drawing/2014/main" id="{1F4B582D-4359-A098-86EF-49099140689E}"/>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555653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SAEs decompose activations: encode an activation vector into a much wider latent space with an L1 sparsity penalty, decode back. Active latents are interpreted as features. This found many interpretable directions, but note what the object of study is: a second model trained to imitate the activations, not the network's own weights.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structural problems. First, measured feature quality: latents have imperfect precision (fire off-concept) and recall (miss on-concept activations). Second, the decomposition is not unique: it is a property of the SAE, not of the model. With too few latents, distinct concepts get merged into polysemantic latents; with too many, a single concept shatters into near-duplicates (feature splitting). There is no principled way to pick the dictionary size.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slide (Braun et al., 2025: APD). For each weight matrix W^l, find subcomponents W^l_c that sum back to it, with each block implementing one mechanism. Each block is itself constructed from a pair of factors U and V; in the rank-1 case W^l_c = U_c V_c^T is an outer product. The three desiderata: faithfulness (blocks sum to the target weights), minimality (per input, few blocks are causally used) and simplicity (each block is individually low-complexity, e.g. low-rank). APD optimised these directly via attributions but was costly and hyperparameter-sensitive, which motivates SPD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SPD mechanics. Every weight matrix is parametrised as a sum of rank-1 blocks W^l_c = U_c V_c^T. A small learnt network outputs a causal importance g_c(x) in [0,1] for each subcomponent on each input, crucially predicted per subcomponent, independently. Masks are sampled m_c ~ U(g_c, 1): important subcomponents stay, unimportant ones are randomly ablated, and the masked model must still reproduce the output (stochastic reconstruction). Faithfulness ties the sum to the original weights, and importance minimality pressures g to be sparse. No top-k hyperparameter, no attribution pass: this is what makes it more scalable and robust than APD.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testbed (Elhage et al., 2022). Five features, each rarely active, are compressed through a 2-dimensional hidden layer with tied weights and reconstructed through a ReLU. Since 5 directions cannot be orthogonal in R^2, the model places them at 72-degree intervals: the pentagon. Ground-truth mechanisms are known here, one per feature. That makes it the perfect model for testing whether a decomposition method recovers the right parts.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of the talk. SPD's rank-1 subcomponents implicitly assume the linear representation hypothesis: one feature, one direction. But Engels et al. (2024) showed that some features are irreducibly multidimensional: days of the week and months of the year form circles in GPT-2 and Mistral, and RNN work finds circular representations of the form x^2+y^2=c^2. No single direction captures a circle. If the decomposition should stay faithful to such features, there are two options: keep rank-1 subcomponents and cluster them into multidimensional components (but the clustering problem is unsolved), or let a single subcomponent have higher rank and span the feature's subspace: the route this thesis takes.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change: each subcomponent becomes W^l_c = U_c V_c with inner dimension k, so rank up to k. But notice what the SPD losses actually constrain. Faithfulness only sees the additive sum over subcomponents; stochastic reconstruction only sees the output; and the sigmoid causal-importance gates are evaluated per subcomponent, independently. Nothing in this objective penalises a single rank-2 subcomponent absorbing two unrelated rank-1 features that live on different directions. That degenerate freedom motivates adding a structural pressure.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structural pressure: replace independent sigmoid gates with a softmax across the C subcomponents. Importance becomes relational: how important one subcomponent is directly trades off against the others, and the distribution normalises to 1, which reads as percentual ownership of a feature rather than a set of independent yes/no gates. Architecturally, the router takes the per-subcomponent inner activations, a C x k matrix treated as C tokens of dimension k, passes them through a small transformer attending across subcomponents, and softmaxes the resulting scores. Right side: drop in your routing matrix figure (top) and importance values figure (bottom); the code box on the left is editable text for the Router module.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softmax routing, the importances always sum to one, so the old importance-minimality loss is (for p=1) literally constant: it has become degenerate and provides no gradient toward sparsity. The replacement is entropy minimisation: H(r) = -Sigma r_c log r_c. Low entropy means the ownership distribution is concentrated; minimising it pushes shared, joint ownership of a feature onto a single subcomponent, restoring the pressure that minimality used to provide, but in the relational, normalised setting.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First issue with the routed importance reading. On TMS 5-2 the importance matrix (right) is perfectly one-hot: one subcomponent per feature. But the strip below shows that a single subcomponent's output does not reconstruct its feature on its own; only the sum over subcomponents does. So a one-hot importance does not mean sole responsibility for the computation, and the percentual-ownership reading is misleading.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testbed for higher rank, now with its structure made explicit. Left: a simplex is a set of n+1 affinely independent vertices, vertices that never lie on a common lower-dimensional plane; here triangles in R^2, and the model's task is to output each triangle's area (its volume). Middle: how this lives in the column space of layer 1: every 6 columns correspond to one simplex, and within those, every 2 columns to one vertex (its x and y coordinate). Right: in layer 2, every row is responsible for the output of one simplex's volume. So the ground-truth decomposition assigns each simplex a distinct, multi-directional set of subcomponents, which is exactly what makes this model a probe for rank-k decompositions.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First findings slide. Running plain SPD on the toy model of geometry: the Sankey (left) shows a clear clustering structure in how input groups route through W1 and W2 subcomponents to output groups, and the importance matrix (right) confirms it. The catch: the clustering is only legible because we know the task structure; individual subcomponents are responsible for different coordinates of a vertex rather than for a whole concept.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Raising the rank without further pressure. Importance does collapse onto fewer subcomponents, as hypothesized, and those subcomponents become causally important for many nominally different concepts (Sankey, left). But the parameter norm does not follow: rather than concentrating in the causally important subcomponents, many components retain residual norm (heatmap, right). Second issue: the importance values cannot be read as a percentual assignment of the computation.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RSPD with sufficient rank delivers the structure we asked for in the importance assignment: one subcomponent causally important for an entire concept (Sankey, right, where everything routes through a single W1 subcomponent). But the sanity check fails by a fair margin: sending an input through only the causally important subcomponents does not reconstruct alone. The causally unimportant subcomponents are still translating meaningful signal, when the important ones should carry the majority of the norm.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Closing observations from the paired regime. The trained paired TMS aligns multiple features onto the same direction; both SPD and RSPD then assign those features to the same subcomponent, even when they could be separate concepts that merely co-occur. Concurrent work reports the same phenomenon in the cleaner case where the concepts have disjoint support.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rank-capacity trap. Raising the rank gives expressive power but also occupancy: a rank-2 subcomponent can learn the basis of an entire 2-D subspace and become causally important for everything inside it. The diagram shows the failure: two genuinely independent rank-1 features A and B (left) get absorbed into one rank-2 subcomponent that spans both (right), with a single gate g_c(x)=1 firing for every input that uses either, so the underlying split is hidden. Going back to rank 1 does not fix it: separate features placed on the same rank-1 direction still collapse together, and rank 1 cannot represent multidimensional features at all.</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reducibility idea, and why the naive version fails. Taking the whole layer as the feature to split gives only a dimensional constraint: in TMS 5-2 the hidden layer is 2-dimensional, so reducibility can split it into at most 2 parts, while the ground truth needs 5 concepts. A modified use would let the conditions choose where to cut a layer into subcomponents, via the two tests: independence and mixture. The figure shows the construction the mixture test must handle: one subcomponent W_c written as two copies at different brightness, a*W_c and (1-a)*W_c. In feature space this is two magnitudes along one direction, exactly a mixture, simulating two subcomponents at different magnitude.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customXml" Target="../ink/ink1.xml"/><Relationship Id="rId7"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customXml" Target="../ink/ink2.xml"/><Relationship Id="rId4" Type="http://schemas.openxmlformats.org/officeDocument/2006/relationships/image" Target="../media/image120.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41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475488"/>
          </a:xfrm>
          <a:prstGeom prst="rect">
            <a:avLst/>
          </a:prstGeom>
          <a:noFill/>
          <a:ln/>
        </p:spPr>
        <p:txBody>
          <a:bodyPr wrap="square" lIns="0" tIns="0" rIns="0" bIns="0" rtlCol="0" anchor="ctr"/>
          <a:lstStyle/>
          <a:p>
            <a:pPr marL="0" indent="0" algn="l">
              <a:buNone/>
            </a:pPr>
            <a:r>
              <a:rPr lang="en-US" sz="2600" b="1" dirty="0">
                <a:solidFill>
                  <a:srgbClr val="E8ECF4"/>
                </a:solidFill>
                <a:latin typeface="Arial" pitchFamily="34" charset="0"/>
                <a:ea typeface="Arial" pitchFamily="34" charset="-122"/>
                <a:cs typeface="Arial" pitchFamily="34" charset="-120"/>
              </a:rPr>
              <a:t>What is mechanistic interpretability?</a:t>
            </a:r>
            <a:endParaRPr lang="en-US" sz="2600" dirty="0"/>
          </a:p>
        </p:txBody>
      </p:sp>
      <p:sp>
        <p:nvSpPr>
          <p:cNvPr id="3" name="Text 1"/>
          <p:cNvSpPr/>
          <p:nvPr/>
        </p:nvSpPr>
        <p:spPr>
          <a:xfrm>
            <a:off x="457200" y="768096"/>
            <a:ext cx="8229600" cy="274320"/>
          </a:xfrm>
          <a:prstGeom prst="rect">
            <a:avLst/>
          </a:prstGeom>
          <a:noFill/>
          <a:ln/>
        </p:spPr>
        <p:txBody>
          <a:bodyPr wrap="square" lIns="0" tIns="0" rIns="0" bIns="0" rtlCol="0" anchor="ctr"/>
          <a:lstStyle/>
          <a:p>
            <a:pPr marL="0" indent="0" algn="l">
              <a:buNone/>
            </a:pPr>
            <a:r>
              <a:rPr lang="en-US" sz="1300" dirty="0">
                <a:solidFill>
                  <a:srgbClr val="8A93A8"/>
                </a:solidFill>
                <a:latin typeface="Arial" pitchFamily="34" charset="0"/>
                <a:ea typeface="Arial" pitchFamily="34" charset="-122"/>
                <a:cs typeface="Arial" pitchFamily="34" charset="-120"/>
              </a:rPr>
              <a:t>Reverse-engineering neural networks into humanly interpretable parts</a:t>
            </a:r>
            <a:endParaRPr lang="en-US" sz="1300" dirty="0"/>
          </a:p>
        </p:txBody>
      </p:sp>
      <p:sp>
        <p:nvSpPr>
          <p:cNvPr id="4" name="Text 2"/>
          <p:cNvSpPr/>
          <p:nvPr/>
        </p:nvSpPr>
        <p:spPr>
          <a:xfrm>
            <a:off x="457200" y="1236102"/>
            <a:ext cx="3840480" cy="3108960"/>
          </a:xfrm>
          <a:prstGeom prst="rect">
            <a:avLst/>
          </a:prstGeom>
          <a:noFill/>
          <a:ln/>
        </p:spPr>
        <p:txBody>
          <a:bodyPr wrap="square" lIns="0" tIns="0" rIns="0" bIns="0" rtlCol="0" anchor="t"/>
          <a:lstStyle/>
          <a:p>
            <a:pPr marL="0" indent="0" algn="l">
              <a:lnSpc>
                <a:spcPct val="112000"/>
              </a:lnSpc>
              <a:buNone/>
            </a:pPr>
            <a:r>
              <a:rPr lang="en-US" sz="1450" b="1" dirty="0">
                <a:solidFill>
                  <a:srgbClr val="E8ECF4"/>
                </a:solidFill>
                <a:latin typeface="Arial" pitchFamily="34" charset="0"/>
                <a:ea typeface="Arial" pitchFamily="34" charset="-122"/>
                <a:cs typeface="Arial" pitchFamily="34" charset="-120"/>
              </a:rPr>
              <a:t>Neural networks work, but we cannot isolate specific concepts within them. </a:t>
            </a:r>
          </a:p>
          <a:p>
            <a:pPr marL="0" indent="0" algn="l">
              <a:lnSpc>
                <a:spcPct val="112000"/>
              </a:lnSpc>
              <a:buNone/>
            </a:pPr>
            <a:endParaRPr lang="en-US" sz="1450" dirty="0"/>
          </a:p>
          <a:p>
            <a:pPr marL="0" indent="0" algn="l">
              <a:lnSpc>
                <a:spcPct val="112000"/>
              </a:lnSpc>
              <a:buNone/>
            </a:pPr>
            <a:r>
              <a:rPr lang="en-US" sz="1450" dirty="0">
                <a:solidFill>
                  <a:srgbClr val="8A93A8"/>
                </a:solidFill>
                <a:latin typeface="Arial" pitchFamily="34" charset="0"/>
                <a:ea typeface="Arial" pitchFamily="34" charset="-122"/>
                <a:cs typeface="Arial" pitchFamily="34" charset="-120"/>
              </a:rPr>
              <a:t>Mechanistic interpretability searches for the network's internal units of computation.</a:t>
            </a:r>
          </a:p>
          <a:p>
            <a:pPr marL="0" indent="0" algn="l">
              <a:lnSpc>
                <a:spcPct val="112000"/>
              </a:lnSpc>
              <a:buNone/>
            </a:pPr>
            <a:endParaRPr lang="en-US" sz="1450" dirty="0"/>
          </a:p>
          <a:p>
            <a:pPr marL="0" indent="0" algn="l">
              <a:lnSpc>
                <a:spcPct val="112000"/>
              </a:lnSpc>
              <a:buNone/>
            </a:pPr>
            <a:r>
              <a:rPr lang="en-US" sz="1450" dirty="0">
                <a:solidFill>
                  <a:srgbClr val="8A93A8"/>
                </a:solidFill>
                <a:latin typeface="Arial" pitchFamily="34" charset="0"/>
                <a:ea typeface="Arial" pitchFamily="34" charset="-122"/>
                <a:cs typeface="Arial" pitchFamily="34" charset="-120"/>
              </a:rPr>
              <a:t>If we can name the parts, we can </a:t>
            </a:r>
            <a:r>
              <a:rPr lang="en-US" sz="1450" b="1" dirty="0">
                <a:solidFill>
                  <a:srgbClr val="E8ECF4"/>
                </a:solidFill>
                <a:latin typeface="Arial" pitchFamily="34" charset="0"/>
                <a:ea typeface="Arial" pitchFamily="34" charset="-122"/>
                <a:cs typeface="Arial" pitchFamily="34" charset="-120"/>
              </a:rPr>
              <a:t>audit</a:t>
            </a:r>
            <a:r>
              <a:rPr lang="en-US" sz="1450" b="1" dirty="0">
                <a:solidFill>
                  <a:srgbClr val="8A93A8"/>
                </a:solidFill>
                <a:latin typeface="Arial" pitchFamily="34" charset="0"/>
                <a:ea typeface="Arial" pitchFamily="34" charset="-122"/>
                <a:cs typeface="Arial" pitchFamily="34" charset="-120"/>
              </a:rPr>
              <a:t> </a:t>
            </a:r>
            <a:r>
              <a:rPr lang="en-US" sz="1450" dirty="0">
                <a:solidFill>
                  <a:srgbClr val="8A93A8"/>
                </a:solidFill>
                <a:latin typeface="Arial" pitchFamily="34" charset="0"/>
                <a:ea typeface="Arial" pitchFamily="34" charset="-122"/>
                <a:cs typeface="Arial" pitchFamily="34" charset="-120"/>
              </a:rPr>
              <a:t>models for safety, </a:t>
            </a:r>
            <a:r>
              <a:rPr lang="en-US" sz="1450" b="1" dirty="0">
                <a:solidFill>
                  <a:srgbClr val="E8ECF4"/>
                </a:solidFill>
                <a:latin typeface="Arial" pitchFamily="34" charset="0"/>
                <a:ea typeface="Arial" pitchFamily="34" charset="-122"/>
                <a:cs typeface="Arial" pitchFamily="34" charset="-120"/>
              </a:rPr>
              <a:t>edit</a:t>
            </a:r>
            <a:r>
              <a:rPr lang="en-US" sz="1450" dirty="0">
                <a:solidFill>
                  <a:srgbClr val="8A93A8"/>
                </a:solidFill>
                <a:latin typeface="Arial" pitchFamily="34" charset="0"/>
                <a:ea typeface="Arial" pitchFamily="34" charset="-122"/>
                <a:cs typeface="Arial" pitchFamily="34" charset="-120"/>
              </a:rPr>
              <a:t> behavior, and </a:t>
            </a:r>
            <a:r>
              <a:rPr lang="en-US" sz="1450" b="1" dirty="0">
                <a:solidFill>
                  <a:srgbClr val="E8ECF4"/>
                </a:solidFill>
                <a:latin typeface="Arial" pitchFamily="34" charset="0"/>
                <a:ea typeface="Arial" pitchFamily="34" charset="-122"/>
                <a:cs typeface="Arial" pitchFamily="34" charset="-120"/>
              </a:rPr>
              <a:t>learn</a:t>
            </a:r>
            <a:r>
              <a:rPr lang="en-US" sz="1450" dirty="0">
                <a:solidFill>
                  <a:srgbClr val="8A93A8"/>
                </a:solidFill>
                <a:latin typeface="Arial" pitchFamily="34" charset="0"/>
                <a:ea typeface="Arial" pitchFamily="34" charset="-122"/>
                <a:cs typeface="Arial" pitchFamily="34" charset="-120"/>
              </a:rPr>
              <a:t> the algorithms the network discovered.</a:t>
            </a:r>
            <a:endParaRPr lang="en-US" sz="1450" dirty="0"/>
          </a:p>
        </p:txBody>
      </p:sp>
      <p:pic>
        <p:nvPicPr>
          <p:cNvPr id="5" name="Image 0" descr="/home/claude/fig_blackbox.png"/>
          <p:cNvPicPr>
            <a:picLocks noChangeAspect="1"/>
          </p:cNvPicPr>
          <p:nvPr/>
        </p:nvPicPr>
        <p:blipFill>
          <a:blip r:embed="rId3"/>
          <a:stretch>
            <a:fillRect/>
          </a:stretch>
        </p:blipFill>
        <p:spPr>
          <a:xfrm>
            <a:off x="4777740" y="1099457"/>
            <a:ext cx="3931920" cy="3744686"/>
          </a:xfrm>
          <a:prstGeom prst="rect">
            <a:avLst/>
          </a:prstGeom>
        </p:spPr>
      </p:pic>
      <p:pic>
        <p:nvPicPr>
          <p:cNvPr id="7" name="Picture 6">
            <a:extLst>
              <a:ext uri="{FF2B5EF4-FFF2-40B4-BE49-F238E27FC236}">
                <a16:creationId xmlns:a16="http://schemas.microsoft.com/office/drawing/2014/main" id="{2A137021-445E-CCBD-2A6A-BF62777A174F}"/>
              </a:ext>
            </a:extLst>
          </p:cNvPr>
          <p:cNvPicPr>
            <a:picLocks noChangeAspect="1"/>
          </p:cNvPicPr>
          <p:nvPr/>
        </p:nvPicPr>
        <p:blipFill>
          <a:blip r:embed="rId4"/>
          <a:stretch>
            <a:fillRect/>
          </a:stretch>
        </p:blipFill>
        <p:spPr>
          <a:xfrm>
            <a:off x="6007062" y="4615930"/>
            <a:ext cx="1473276" cy="234962"/>
          </a:xfrm>
          <a:prstGeom prst="rect">
            <a:avLst/>
          </a:prstGeom>
        </p:spPr>
      </p:pic>
      <p:pic>
        <p:nvPicPr>
          <p:cNvPr id="8" name="Picture 7">
            <a:extLst>
              <a:ext uri="{FF2B5EF4-FFF2-40B4-BE49-F238E27FC236}">
                <a16:creationId xmlns:a16="http://schemas.microsoft.com/office/drawing/2014/main" id="{60FAD52D-9DC0-DCA8-1352-F4F0F41A59AA}"/>
              </a:ext>
            </a:extLst>
          </p:cNvPr>
          <p:cNvPicPr>
            <a:picLocks noChangeAspect="1"/>
          </p:cNvPicPr>
          <p:nvPr/>
        </p:nvPicPr>
        <p:blipFill>
          <a:blip r:embed="rId5"/>
          <a:stretch>
            <a:fillRect/>
          </a:stretch>
        </p:blipFill>
        <p:spPr>
          <a:xfrm>
            <a:off x="6711950" y="1023366"/>
            <a:ext cx="1162110" cy="425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41F"/>
        </a:solidFill>
        <a:effectLst/>
      </p:bgPr>
    </p:bg>
    <p:spTree>
      <p:nvGrpSpPr>
        <p:cNvPr id="1" name="">
          <a:extLst>
            <a:ext uri="{FF2B5EF4-FFF2-40B4-BE49-F238E27FC236}">
              <a16:creationId xmlns:a16="http://schemas.microsoft.com/office/drawing/2014/main" id="{E73DD1BB-FCD5-2D6A-2C60-DDF47AF7FB12}"/>
            </a:ext>
          </a:extLst>
        </p:cNvPr>
        <p:cNvGrpSpPr/>
        <p:nvPr/>
      </p:nvGrpSpPr>
      <p:grpSpPr>
        <a:xfrm>
          <a:off x="0" y="0"/>
          <a:ext cx="0" cy="0"/>
          <a:chOff x="0" y="0"/>
          <a:chExt cx="0" cy="0"/>
        </a:xfrm>
      </p:grpSpPr>
      <p:sp>
        <p:nvSpPr>
          <p:cNvPr id="2" name="TextBox 1"/>
          <p:cNvSpPr txBox="1"/>
          <p:nvPr/>
        </p:nvSpPr>
        <p:spPr>
          <a:xfrm>
            <a:off x="457200" y="292608"/>
            <a:ext cx="8229600" cy="400110"/>
          </a:xfrm>
          <a:prstGeom prst="rect">
            <a:avLst/>
          </a:prstGeom>
          <a:noFill/>
        </p:spPr>
        <p:txBody>
          <a:bodyPr wrap="square" lIns="0" tIns="0" rIns="0" bIns="0">
            <a:spAutoFit/>
          </a:bodyPr>
          <a:lstStyle/>
          <a:p>
            <a:r>
              <a:rPr lang="da-DK" sz="2600" b="1" dirty="0">
                <a:solidFill>
                  <a:srgbClr val="E8ECF4"/>
                </a:solidFill>
                <a:latin typeface="Arial"/>
              </a:rPr>
              <a:t>Hurdles to interpretability</a:t>
            </a:r>
            <a:endParaRPr sz="2600" b="1" dirty="0">
              <a:solidFill>
                <a:srgbClr val="E8ECF4"/>
              </a:solidFill>
              <a:latin typeface="Arial"/>
            </a:endParaRPr>
          </a:p>
        </p:txBody>
      </p:sp>
      <p:sp>
        <p:nvSpPr>
          <p:cNvPr id="3" name="TextBox 2"/>
          <p:cNvSpPr txBox="1"/>
          <p:nvPr/>
        </p:nvSpPr>
        <p:spPr>
          <a:xfrm>
            <a:off x="457200" y="768096"/>
            <a:ext cx="8229600" cy="274320"/>
          </a:xfrm>
          <a:prstGeom prst="rect">
            <a:avLst/>
          </a:prstGeom>
          <a:noFill/>
        </p:spPr>
        <p:txBody>
          <a:bodyPr wrap="square" lIns="0" tIns="0" rIns="0" bIns="0">
            <a:spAutoFit/>
          </a:bodyPr>
          <a:lstStyle/>
          <a:p>
            <a:r>
              <a:rPr sz="1300" dirty="0" err="1">
                <a:solidFill>
                  <a:srgbClr val="8A93A8"/>
                </a:solidFill>
                <a:latin typeface="Arial"/>
              </a:rPr>
              <a:t>Polysemanticity</a:t>
            </a:r>
            <a:r>
              <a:rPr sz="1300" dirty="0">
                <a:solidFill>
                  <a:srgbClr val="8A93A8"/>
                </a:solidFill>
                <a:latin typeface="Arial"/>
              </a:rPr>
              <a:t> and the superposition hypothesis</a:t>
            </a:r>
          </a:p>
        </p:txBody>
      </p:sp>
      <p:sp>
        <p:nvSpPr>
          <p:cNvPr id="4" name="TextBox 3"/>
          <p:cNvSpPr txBox="1"/>
          <p:nvPr/>
        </p:nvSpPr>
        <p:spPr>
          <a:xfrm>
            <a:off x="457200" y="1322936"/>
            <a:ext cx="3931920" cy="1518429"/>
          </a:xfrm>
          <a:prstGeom prst="rect">
            <a:avLst/>
          </a:prstGeom>
          <a:noFill/>
        </p:spPr>
        <p:txBody>
          <a:bodyPr wrap="square" lIns="0" tIns="0" rIns="0" bIns="0">
            <a:spAutoFit/>
          </a:bodyPr>
          <a:lstStyle/>
          <a:p>
            <a:pPr>
              <a:lnSpc>
                <a:spcPct val="112000"/>
              </a:lnSpc>
              <a:spcAft>
                <a:spcPts val="1100"/>
              </a:spcAft>
            </a:pPr>
            <a:r>
              <a:rPr lang="en-US" sz="1350" b="1" dirty="0">
                <a:solidFill>
                  <a:srgbClr val="E8ECF4"/>
                </a:solidFill>
                <a:latin typeface="Arial"/>
              </a:rPr>
              <a:t>The superposition hypothesis: </a:t>
            </a:r>
            <a:r>
              <a:rPr lang="en-US" sz="1350" dirty="0">
                <a:solidFill>
                  <a:srgbClr val="8A93A8"/>
                </a:solidFill>
                <a:latin typeface="Arial"/>
              </a:rPr>
              <a:t>networks represent more features than neurons by encoding features in an overcomplete basis in activation space. </a:t>
            </a:r>
          </a:p>
          <a:p>
            <a:pPr>
              <a:lnSpc>
                <a:spcPct val="112000"/>
              </a:lnSpc>
              <a:spcAft>
                <a:spcPts val="1100"/>
              </a:spcAft>
            </a:pPr>
            <a:r>
              <a:rPr sz="1350" b="1" dirty="0">
                <a:solidFill>
                  <a:srgbClr val="E8ECF4"/>
                </a:solidFill>
                <a:latin typeface="Arial"/>
              </a:rPr>
              <a:t>Polysemantic neurons:</a:t>
            </a:r>
            <a:r>
              <a:rPr lang="da-DK" sz="1350" b="1" dirty="0">
                <a:solidFill>
                  <a:srgbClr val="E8ECF4"/>
                </a:solidFill>
                <a:latin typeface="Arial"/>
              </a:rPr>
              <a:t> </a:t>
            </a:r>
            <a:r>
              <a:rPr sz="1350" b="1" dirty="0">
                <a:solidFill>
                  <a:srgbClr val="E8ECF4"/>
                </a:solidFill>
                <a:latin typeface="Arial"/>
              </a:rPr>
              <a:t> </a:t>
            </a:r>
            <a:r>
              <a:rPr lang="da-DK" sz="1350" dirty="0">
                <a:solidFill>
                  <a:srgbClr val="8A93A8"/>
                </a:solidFill>
                <a:latin typeface="Arial"/>
              </a:rPr>
              <a:t>Consequently </a:t>
            </a:r>
            <a:r>
              <a:rPr sz="1350" dirty="0">
                <a:solidFill>
                  <a:srgbClr val="8A93A8"/>
                </a:solidFill>
                <a:latin typeface="Arial"/>
              </a:rPr>
              <a:t>individual neurons respond to multiple different features.</a:t>
            </a:r>
          </a:p>
        </p:txBody>
      </p:sp>
      <p:pic>
        <p:nvPicPr>
          <p:cNvPr id="5" name="Picture 4" descr="fig_superposition.png"/>
          <p:cNvPicPr>
            <a:picLocks noChangeAspect="1"/>
          </p:cNvPicPr>
          <p:nvPr/>
        </p:nvPicPr>
        <p:blipFill>
          <a:blip r:embed="rId3"/>
          <a:stretch>
            <a:fillRect/>
          </a:stretch>
        </p:blipFill>
        <p:spPr>
          <a:xfrm>
            <a:off x="4572000" y="596085"/>
            <a:ext cx="4297680" cy="3779319"/>
          </a:xfrm>
          <a:prstGeom prst="rect">
            <a:avLst/>
          </a:prstGeom>
        </p:spPr>
      </p:pic>
      <p:pic>
        <p:nvPicPr>
          <p:cNvPr id="7" name="Picture 6">
            <a:extLst>
              <a:ext uri="{FF2B5EF4-FFF2-40B4-BE49-F238E27FC236}">
                <a16:creationId xmlns:a16="http://schemas.microsoft.com/office/drawing/2014/main" id="{A7496CA3-A287-6701-3B2B-895E6627E2CE}"/>
              </a:ext>
            </a:extLst>
          </p:cNvPr>
          <p:cNvPicPr>
            <a:picLocks noChangeAspect="1"/>
          </p:cNvPicPr>
          <p:nvPr/>
        </p:nvPicPr>
        <p:blipFill>
          <a:blip r:embed="rId4"/>
          <a:stretch>
            <a:fillRect/>
          </a:stretch>
        </p:blipFill>
        <p:spPr>
          <a:xfrm>
            <a:off x="5051417" y="4034363"/>
            <a:ext cx="311166" cy="139707"/>
          </a:xfrm>
          <a:prstGeom prst="rect">
            <a:avLst/>
          </a:prstGeom>
        </p:spPr>
      </p:pic>
      <p:pic>
        <p:nvPicPr>
          <p:cNvPr id="11" name="Picture 10">
            <a:extLst>
              <a:ext uri="{FF2B5EF4-FFF2-40B4-BE49-F238E27FC236}">
                <a16:creationId xmlns:a16="http://schemas.microsoft.com/office/drawing/2014/main" id="{7A04626B-7C68-8B33-B517-24988A4F3D6B}"/>
              </a:ext>
            </a:extLst>
          </p:cNvPr>
          <p:cNvPicPr>
            <a:picLocks noChangeAspect="1"/>
          </p:cNvPicPr>
          <p:nvPr/>
        </p:nvPicPr>
        <p:blipFill>
          <a:blip r:embed="rId5"/>
          <a:stretch>
            <a:fillRect/>
          </a:stretch>
        </p:blipFill>
        <p:spPr>
          <a:xfrm>
            <a:off x="5354963" y="3947575"/>
            <a:ext cx="482625" cy="228612"/>
          </a:xfrm>
          <a:prstGeom prst="rect">
            <a:avLst/>
          </a:prstGeom>
        </p:spPr>
      </p:pic>
      <p:pic>
        <p:nvPicPr>
          <p:cNvPr id="13" name="Picture 12">
            <a:extLst>
              <a:ext uri="{FF2B5EF4-FFF2-40B4-BE49-F238E27FC236}">
                <a16:creationId xmlns:a16="http://schemas.microsoft.com/office/drawing/2014/main" id="{E968D870-C2D2-5164-5926-17A5FE4AD960}"/>
              </a:ext>
            </a:extLst>
          </p:cNvPr>
          <p:cNvPicPr>
            <a:picLocks noChangeAspect="1"/>
          </p:cNvPicPr>
          <p:nvPr/>
        </p:nvPicPr>
        <p:blipFill>
          <a:blip r:embed="rId5"/>
          <a:stretch>
            <a:fillRect/>
          </a:stretch>
        </p:blipFill>
        <p:spPr>
          <a:xfrm>
            <a:off x="5708641" y="3947575"/>
            <a:ext cx="482625" cy="228612"/>
          </a:xfrm>
          <a:prstGeom prst="rect">
            <a:avLst/>
          </a:prstGeom>
        </p:spPr>
      </p:pic>
      <p:pic>
        <p:nvPicPr>
          <p:cNvPr id="19" name="Picture 18">
            <a:extLst>
              <a:ext uri="{FF2B5EF4-FFF2-40B4-BE49-F238E27FC236}">
                <a16:creationId xmlns:a16="http://schemas.microsoft.com/office/drawing/2014/main" id="{E58560E3-D39A-A115-D774-0BFD773F0C60}"/>
              </a:ext>
            </a:extLst>
          </p:cNvPr>
          <p:cNvPicPr>
            <a:picLocks noChangeAspect="1"/>
          </p:cNvPicPr>
          <p:nvPr/>
        </p:nvPicPr>
        <p:blipFill>
          <a:blip r:embed="rId6"/>
          <a:stretch>
            <a:fillRect/>
          </a:stretch>
        </p:blipFill>
        <p:spPr>
          <a:xfrm>
            <a:off x="6765890" y="2285435"/>
            <a:ext cx="1352620" cy="139707"/>
          </a:xfrm>
          <a:prstGeom prst="rect">
            <a:avLst/>
          </a:prstGeom>
        </p:spPr>
      </p:pic>
      <p:pic>
        <p:nvPicPr>
          <p:cNvPr id="21" name="Picture 20">
            <a:extLst>
              <a:ext uri="{FF2B5EF4-FFF2-40B4-BE49-F238E27FC236}">
                <a16:creationId xmlns:a16="http://schemas.microsoft.com/office/drawing/2014/main" id="{AED3BFA0-037B-B225-FE5B-A253096D25F0}"/>
              </a:ext>
            </a:extLst>
          </p:cNvPr>
          <p:cNvPicPr>
            <a:picLocks noChangeAspect="1"/>
          </p:cNvPicPr>
          <p:nvPr/>
        </p:nvPicPr>
        <p:blipFill>
          <a:blip r:embed="rId6"/>
          <a:stretch>
            <a:fillRect/>
          </a:stretch>
        </p:blipFill>
        <p:spPr>
          <a:xfrm>
            <a:off x="7045290" y="2258756"/>
            <a:ext cx="1352620" cy="139707"/>
          </a:xfrm>
          <a:prstGeom prst="rect">
            <a:avLst/>
          </a:prstGeom>
        </p:spPr>
      </p:pic>
      <p:pic>
        <p:nvPicPr>
          <p:cNvPr id="23" name="Picture 22">
            <a:extLst>
              <a:ext uri="{FF2B5EF4-FFF2-40B4-BE49-F238E27FC236}">
                <a16:creationId xmlns:a16="http://schemas.microsoft.com/office/drawing/2014/main" id="{C5C0DBAA-C1B3-3DBC-F052-4036B95C1E74}"/>
              </a:ext>
            </a:extLst>
          </p:cNvPr>
          <p:cNvPicPr>
            <a:picLocks noChangeAspect="1"/>
          </p:cNvPicPr>
          <p:nvPr/>
        </p:nvPicPr>
        <p:blipFill>
          <a:blip r:embed="rId7"/>
          <a:stretch>
            <a:fillRect/>
          </a:stretch>
        </p:blipFill>
        <p:spPr>
          <a:xfrm>
            <a:off x="5949953" y="4097866"/>
            <a:ext cx="349268" cy="95255"/>
          </a:xfrm>
          <a:prstGeom prst="rect">
            <a:avLst/>
          </a:prstGeom>
        </p:spPr>
      </p:pic>
    </p:spTree>
    <p:extLst>
      <p:ext uri="{BB962C8B-B14F-4D97-AF65-F5344CB8AC3E}">
        <p14:creationId xmlns:p14="http://schemas.microsoft.com/office/powerpoint/2010/main" val="3450909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41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475488"/>
          </a:xfrm>
          <a:prstGeom prst="rect">
            <a:avLst/>
          </a:prstGeom>
          <a:noFill/>
          <a:ln/>
        </p:spPr>
        <p:txBody>
          <a:bodyPr wrap="square" lIns="0" tIns="0" rIns="0" bIns="0" rtlCol="0" anchor="ctr"/>
          <a:lstStyle/>
          <a:p>
            <a:pPr marL="0" indent="0" algn="l">
              <a:buNone/>
            </a:pPr>
            <a:r>
              <a:rPr lang="en-US" sz="2600" b="1" dirty="0">
                <a:solidFill>
                  <a:srgbClr val="E8ECF4"/>
                </a:solidFill>
                <a:latin typeface="Arial" pitchFamily="34" charset="0"/>
                <a:ea typeface="Arial" pitchFamily="34" charset="-122"/>
                <a:cs typeface="Arial" pitchFamily="34" charset="-120"/>
              </a:rPr>
              <a:t>Sparse autoencoders</a:t>
            </a:r>
            <a:endParaRPr lang="en-US" sz="2600" dirty="0"/>
          </a:p>
        </p:txBody>
      </p:sp>
      <p:sp>
        <p:nvSpPr>
          <p:cNvPr id="3" name="Text 1"/>
          <p:cNvSpPr/>
          <p:nvPr/>
        </p:nvSpPr>
        <p:spPr>
          <a:xfrm>
            <a:off x="457200" y="568960"/>
            <a:ext cx="8229600" cy="552704"/>
          </a:xfrm>
          <a:prstGeom prst="rect">
            <a:avLst/>
          </a:prstGeom>
          <a:noFill/>
          <a:ln/>
        </p:spPr>
        <p:txBody>
          <a:bodyPr wrap="square" lIns="0" tIns="0" rIns="0" bIns="0" rtlCol="0" anchor="ctr"/>
          <a:lstStyle/>
          <a:p>
            <a:pPr marL="0" indent="0" algn="l">
              <a:buNone/>
            </a:pPr>
            <a:r>
              <a:rPr lang="en-US" sz="1300" dirty="0">
                <a:solidFill>
                  <a:srgbClr val="8A93A8"/>
                </a:solidFill>
                <a:latin typeface="Arial" pitchFamily="34" charset="0"/>
                <a:ea typeface="Arial" pitchFamily="34" charset="-122"/>
                <a:cs typeface="Arial" pitchFamily="34" charset="-120"/>
              </a:rPr>
              <a:t>The dominant approach in activation space</a:t>
            </a:r>
          </a:p>
        </p:txBody>
      </p:sp>
      <p:sp>
        <p:nvSpPr>
          <p:cNvPr id="4" name="Text 2"/>
          <p:cNvSpPr/>
          <p:nvPr/>
        </p:nvSpPr>
        <p:spPr>
          <a:xfrm>
            <a:off x="475874" y="1121664"/>
            <a:ext cx="3474720" cy="688086"/>
          </a:xfrm>
          <a:prstGeom prst="rect">
            <a:avLst/>
          </a:prstGeom>
          <a:noFill/>
          <a:ln/>
        </p:spPr>
        <p:txBody>
          <a:bodyPr wrap="square" lIns="0" tIns="0" rIns="0" bIns="0" rtlCol="0" anchor="t"/>
          <a:lstStyle/>
          <a:p>
            <a:pPr marL="0" indent="0" algn="l">
              <a:lnSpc>
                <a:spcPct val="112000"/>
              </a:lnSpc>
              <a:buNone/>
            </a:pPr>
            <a:r>
              <a:rPr lang="en-US" sz="1400" dirty="0">
                <a:solidFill>
                  <a:srgbClr val="8A93A8"/>
                </a:solidFill>
                <a:latin typeface="Arial" pitchFamily="34" charset="0"/>
                <a:ea typeface="Arial" pitchFamily="34" charset="-122"/>
                <a:cs typeface="Arial" pitchFamily="34" charset="-120"/>
              </a:rPr>
              <a:t>Project the layer output to a sparse higher dimensional space.</a:t>
            </a:r>
          </a:p>
        </p:txBody>
      </p:sp>
      <p:sp>
        <p:nvSpPr>
          <p:cNvPr id="5" name="Text 3"/>
          <p:cNvSpPr/>
          <p:nvPr/>
        </p:nvSpPr>
        <p:spPr>
          <a:xfrm>
            <a:off x="475874" y="1519481"/>
            <a:ext cx="3474720" cy="1188720"/>
          </a:xfrm>
          <a:prstGeom prst="rect">
            <a:avLst/>
          </a:prstGeom>
          <a:noFill/>
          <a:ln/>
        </p:spPr>
        <p:txBody>
          <a:bodyPr wrap="square" lIns="0" tIns="0" rIns="0" bIns="0" rtlCol="0" anchor="ctr"/>
          <a:lstStyle/>
          <a:p>
            <a:pPr marL="0" indent="0" algn="l">
              <a:lnSpc>
                <a:spcPct val="135000"/>
              </a:lnSpc>
              <a:buNone/>
            </a:pPr>
            <a:r>
              <a:rPr lang="en-US" sz="1500" dirty="0">
                <a:solidFill>
                  <a:srgbClr val="E8ECF4"/>
                </a:solidFill>
                <a:latin typeface="Cambria" pitchFamily="34" charset="0"/>
                <a:ea typeface="Cambria" pitchFamily="34" charset="-122"/>
                <a:cs typeface="Cambria" pitchFamily="34" charset="-120"/>
              </a:rPr>
              <a:t>z = ReLU(W</a:t>
            </a:r>
            <a:r>
              <a:rPr lang="en-US" sz="1500" baseline="-40000" dirty="0">
                <a:solidFill>
                  <a:srgbClr val="E8ECF4"/>
                </a:solidFill>
                <a:latin typeface="Cambria" pitchFamily="34" charset="0"/>
                <a:ea typeface="Cambria" pitchFamily="34" charset="-122"/>
                <a:cs typeface="Cambria" pitchFamily="34" charset="-120"/>
              </a:rPr>
              <a:t>enc</a:t>
            </a:r>
            <a:r>
              <a:rPr lang="en-US" sz="1500" dirty="0">
                <a:solidFill>
                  <a:srgbClr val="E8ECF4"/>
                </a:solidFill>
                <a:latin typeface="Cambria" pitchFamily="34" charset="0"/>
                <a:ea typeface="Cambria" pitchFamily="34" charset="-122"/>
                <a:cs typeface="Cambria" pitchFamily="34" charset="-120"/>
              </a:rPr>
              <a:t> x + b</a:t>
            </a:r>
            <a:r>
              <a:rPr lang="en-US" sz="1500" baseline="-40000" dirty="0">
                <a:solidFill>
                  <a:srgbClr val="E8ECF4"/>
                </a:solidFill>
                <a:latin typeface="Cambria" pitchFamily="34" charset="0"/>
                <a:ea typeface="Cambria" pitchFamily="34" charset="-122"/>
                <a:cs typeface="Cambria" pitchFamily="34" charset="-120"/>
              </a:rPr>
              <a:t>enc</a:t>
            </a:r>
            <a:r>
              <a:rPr lang="en-US" sz="1500" dirty="0">
                <a:solidFill>
                  <a:srgbClr val="E8ECF4"/>
                </a:solidFill>
                <a:latin typeface="Cambria" pitchFamily="34" charset="0"/>
                <a:ea typeface="Cambria" pitchFamily="34" charset="-122"/>
                <a:cs typeface="Cambria" pitchFamily="34" charset="-120"/>
              </a:rPr>
              <a:t>)</a:t>
            </a:r>
            <a:endParaRPr lang="en-US" sz="1500" dirty="0"/>
          </a:p>
          <a:p>
            <a:pPr marL="0" indent="0" algn="l">
              <a:lnSpc>
                <a:spcPct val="135000"/>
              </a:lnSpc>
              <a:buNone/>
            </a:pPr>
            <a:r>
              <a:rPr lang="en-US" sz="1500" dirty="0">
                <a:solidFill>
                  <a:srgbClr val="E8ECF4"/>
                </a:solidFill>
                <a:latin typeface="Cambria" pitchFamily="34" charset="0"/>
                <a:ea typeface="Cambria" pitchFamily="34" charset="-122"/>
                <a:cs typeface="Cambria" pitchFamily="34" charset="-120"/>
              </a:rPr>
              <a:t>x̂ = W</a:t>
            </a:r>
            <a:r>
              <a:rPr lang="en-US" sz="1500" baseline="-40000" dirty="0">
                <a:solidFill>
                  <a:srgbClr val="E8ECF4"/>
                </a:solidFill>
                <a:latin typeface="Cambria" pitchFamily="34" charset="0"/>
                <a:ea typeface="Cambria" pitchFamily="34" charset="-122"/>
                <a:cs typeface="Cambria" pitchFamily="34" charset="-120"/>
              </a:rPr>
              <a:t>dec</a:t>
            </a:r>
            <a:r>
              <a:rPr lang="en-US" sz="1500" dirty="0">
                <a:solidFill>
                  <a:srgbClr val="E8ECF4"/>
                </a:solidFill>
                <a:latin typeface="Cambria" pitchFamily="34" charset="0"/>
                <a:ea typeface="Cambria" pitchFamily="34" charset="-122"/>
                <a:cs typeface="Cambria" pitchFamily="34" charset="-120"/>
              </a:rPr>
              <a:t> z + b</a:t>
            </a:r>
            <a:r>
              <a:rPr lang="en-US" sz="1500" baseline="-40000" dirty="0">
                <a:solidFill>
                  <a:srgbClr val="E8ECF4"/>
                </a:solidFill>
                <a:latin typeface="Cambria" pitchFamily="34" charset="0"/>
                <a:ea typeface="Cambria" pitchFamily="34" charset="-122"/>
                <a:cs typeface="Cambria" pitchFamily="34" charset="-120"/>
              </a:rPr>
              <a:t>dec</a:t>
            </a:r>
            <a:endParaRPr lang="en-US" sz="1500" dirty="0"/>
          </a:p>
          <a:p>
            <a:pPr marL="0" indent="0" algn="l">
              <a:lnSpc>
                <a:spcPct val="135000"/>
              </a:lnSpc>
              <a:buNone/>
            </a:pPr>
            <a:r>
              <a:rPr lang="en-US" sz="1500" dirty="0">
                <a:solidFill>
                  <a:srgbClr val="E8ECF4"/>
                </a:solidFill>
                <a:latin typeface="Cambria" pitchFamily="34" charset="0"/>
                <a:ea typeface="Cambria" pitchFamily="34" charset="-122"/>
                <a:cs typeface="Cambria" pitchFamily="34" charset="-120"/>
              </a:rPr>
              <a:t>L = ‖x − x̂‖² + λ‖z‖</a:t>
            </a:r>
            <a:r>
              <a:rPr lang="en-US" sz="1500" baseline="-40000" dirty="0">
                <a:solidFill>
                  <a:srgbClr val="E8ECF4"/>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457200" y="2741676"/>
            <a:ext cx="3657600" cy="1832864"/>
          </a:xfrm>
          <a:prstGeom prst="rect">
            <a:avLst/>
          </a:prstGeom>
          <a:noFill/>
          <a:ln/>
        </p:spPr>
        <p:txBody>
          <a:bodyPr wrap="square" lIns="0" tIns="0" rIns="0" bIns="0" rtlCol="0" anchor="t"/>
          <a:lstStyle/>
          <a:p>
            <a:pPr marL="0" indent="0" algn="l">
              <a:lnSpc>
                <a:spcPct val="112000"/>
              </a:lnSpc>
              <a:buNone/>
            </a:pPr>
            <a:r>
              <a:rPr lang="en-US" sz="1400" dirty="0">
                <a:solidFill>
                  <a:srgbClr val="8A93A8"/>
                </a:solidFill>
                <a:latin typeface="Arial" pitchFamily="34" charset="0"/>
                <a:ea typeface="Arial" pitchFamily="34" charset="-122"/>
                <a:cs typeface="Arial" pitchFamily="34" charset="-120"/>
              </a:rPr>
              <a:t>Reconstruction keeps z faithful; the ℓ₁ penalty keeps it sparse. Each surviving latent is read as one candidate feature.</a:t>
            </a:r>
          </a:p>
          <a:p>
            <a:pPr marL="0" indent="0" algn="l">
              <a:lnSpc>
                <a:spcPct val="112000"/>
              </a:lnSpc>
              <a:buNone/>
            </a:pPr>
            <a:endParaRPr lang="en-US" sz="1400" dirty="0">
              <a:solidFill>
                <a:srgbClr val="8A93A8"/>
              </a:solidFill>
              <a:latin typeface="Arial" pitchFamily="34" charset="0"/>
              <a:cs typeface="Arial" pitchFamily="34" charset="-120"/>
            </a:endParaRPr>
          </a:p>
          <a:p>
            <a:pPr marL="0" indent="0" algn="l">
              <a:lnSpc>
                <a:spcPct val="112000"/>
              </a:lnSpc>
              <a:buNone/>
            </a:pPr>
            <a:r>
              <a:rPr lang="en-US" sz="1400" dirty="0">
                <a:solidFill>
                  <a:srgbClr val="8A93A8"/>
                </a:solidFill>
                <a:latin typeface="Arial" pitchFamily="34" charset="0"/>
                <a:cs typeface="Arial" pitchFamily="34" charset="-120"/>
              </a:rPr>
              <a:t>If we can find an isolated concept in the latent z, then we can clamp it to modify a network concept.</a:t>
            </a:r>
            <a:endParaRPr lang="en-US" sz="1400" dirty="0"/>
          </a:p>
        </p:txBody>
      </p:sp>
      <p:pic>
        <p:nvPicPr>
          <p:cNvPr id="7" name="Image 0" descr="/home/claude/fig_sae.png"/>
          <p:cNvPicPr>
            <a:picLocks noChangeAspect="1"/>
          </p:cNvPicPr>
          <p:nvPr/>
        </p:nvPicPr>
        <p:blipFill>
          <a:blip r:embed="rId3"/>
          <a:stretch>
            <a:fillRect/>
          </a:stretch>
        </p:blipFill>
        <p:spPr>
          <a:xfrm>
            <a:off x="5193407" y="2473759"/>
            <a:ext cx="3710940" cy="2669741"/>
          </a:xfrm>
          <a:prstGeom prst="rect">
            <a:avLst/>
          </a:prstGeom>
        </p:spPr>
      </p:pic>
      <p:pic>
        <p:nvPicPr>
          <p:cNvPr id="9" name="Picture 8">
            <a:extLst>
              <a:ext uri="{FF2B5EF4-FFF2-40B4-BE49-F238E27FC236}">
                <a16:creationId xmlns:a16="http://schemas.microsoft.com/office/drawing/2014/main" id="{9B269DDC-84D2-1D4D-8900-470472AF078F}"/>
              </a:ext>
            </a:extLst>
          </p:cNvPr>
          <p:cNvPicPr>
            <a:picLocks noChangeAspect="1"/>
          </p:cNvPicPr>
          <p:nvPr/>
        </p:nvPicPr>
        <p:blipFill>
          <a:blip r:embed="rId4"/>
          <a:stretch>
            <a:fillRect/>
          </a:stretch>
        </p:blipFill>
        <p:spPr>
          <a:xfrm>
            <a:off x="5193407" y="463268"/>
            <a:ext cx="3275845" cy="2004141"/>
          </a:xfrm>
          <a:prstGeom prst="rect">
            <a:avLst/>
          </a:prstGeom>
        </p:spPr>
      </p:pic>
      <p:pic>
        <p:nvPicPr>
          <p:cNvPr id="10" name="Picture 9">
            <a:extLst>
              <a:ext uri="{FF2B5EF4-FFF2-40B4-BE49-F238E27FC236}">
                <a16:creationId xmlns:a16="http://schemas.microsoft.com/office/drawing/2014/main" id="{E7075A5B-C26D-9EA5-D622-0DC7BB1C282A}"/>
              </a:ext>
            </a:extLst>
          </p:cNvPr>
          <p:cNvPicPr>
            <a:picLocks noChangeAspect="1"/>
          </p:cNvPicPr>
          <p:nvPr/>
        </p:nvPicPr>
        <p:blipFill>
          <a:blip r:embed="rId5"/>
          <a:stretch>
            <a:fillRect/>
          </a:stretch>
        </p:blipFill>
        <p:spPr>
          <a:xfrm>
            <a:off x="1320797" y="2473759"/>
            <a:ext cx="101605" cy="101605"/>
          </a:xfrm>
          <a:prstGeom prst="rect">
            <a:avLst/>
          </a:prstGeom>
        </p:spPr>
      </p:pic>
      <p:pic>
        <p:nvPicPr>
          <p:cNvPr id="12" name="Picture 11">
            <a:extLst>
              <a:ext uri="{FF2B5EF4-FFF2-40B4-BE49-F238E27FC236}">
                <a16:creationId xmlns:a16="http://schemas.microsoft.com/office/drawing/2014/main" id="{C812DD95-B0E4-A284-C733-3F4BD0476A2F}"/>
              </a:ext>
            </a:extLst>
          </p:cNvPr>
          <p:cNvPicPr>
            <a:picLocks noChangeAspect="1"/>
          </p:cNvPicPr>
          <p:nvPr/>
        </p:nvPicPr>
        <p:blipFill>
          <a:blip r:embed="rId6"/>
          <a:stretch>
            <a:fillRect/>
          </a:stretch>
        </p:blipFill>
        <p:spPr>
          <a:xfrm>
            <a:off x="5032398" y="4761348"/>
            <a:ext cx="920797" cy="381020"/>
          </a:xfrm>
          <a:prstGeom prst="rect">
            <a:avLst/>
          </a:prstGeom>
        </p:spPr>
      </p:pic>
      <p:pic>
        <p:nvPicPr>
          <p:cNvPr id="14" name="Picture 13">
            <a:extLst>
              <a:ext uri="{FF2B5EF4-FFF2-40B4-BE49-F238E27FC236}">
                <a16:creationId xmlns:a16="http://schemas.microsoft.com/office/drawing/2014/main" id="{193F5E6F-9273-2D95-C6CE-E2692625E6D3}"/>
              </a:ext>
            </a:extLst>
          </p:cNvPr>
          <p:cNvPicPr>
            <a:picLocks noChangeAspect="1"/>
          </p:cNvPicPr>
          <p:nvPr/>
        </p:nvPicPr>
        <p:blipFill>
          <a:blip r:embed="rId7"/>
          <a:stretch>
            <a:fillRect/>
          </a:stretch>
        </p:blipFill>
        <p:spPr>
          <a:xfrm>
            <a:off x="6598004" y="4951858"/>
            <a:ext cx="901746" cy="1714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0141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475488"/>
          </a:xfrm>
          <a:prstGeom prst="rect">
            <a:avLst/>
          </a:prstGeom>
          <a:noFill/>
          <a:ln/>
        </p:spPr>
        <p:txBody>
          <a:bodyPr wrap="square" lIns="0" tIns="0" rIns="0" bIns="0" rtlCol="0" anchor="ctr"/>
          <a:lstStyle/>
          <a:p>
            <a:pPr marL="0" indent="0" algn="l">
              <a:buNone/>
            </a:pPr>
            <a:r>
              <a:rPr lang="en-US" sz="2600" b="1" dirty="0">
                <a:solidFill>
                  <a:srgbClr val="E8ECF4"/>
                </a:solidFill>
                <a:latin typeface="Arial" pitchFamily="34" charset="0"/>
                <a:ea typeface="Arial" pitchFamily="34" charset="-122"/>
                <a:cs typeface="Arial" pitchFamily="34" charset="-120"/>
              </a:rPr>
              <a:t>Limitations of sparse autoencoders</a:t>
            </a:r>
            <a:endParaRPr lang="en-US" sz="2600" dirty="0"/>
          </a:p>
        </p:txBody>
      </p:sp>
      <p:sp>
        <p:nvSpPr>
          <p:cNvPr id="3" name="Text 1"/>
          <p:cNvSpPr/>
          <p:nvPr/>
        </p:nvSpPr>
        <p:spPr>
          <a:xfrm>
            <a:off x="457200" y="768096"/>
            <a:ext cx="8229600" cy="274320"/>
          </a:xfrm>
          <a:prstGeom prst="rect">
            <a:avLst/>
          </a:prstGeom>
          <a:noFill/>
          <a:ln/>
        </p:spPr>
        <p:txBody>
          <a:bodyPr wrap="square" lIns="0" tIns="0" rIns="0" bIns="0" rtlCol="0" anchor="ctr"/>
          <a:lstStyle/>
          <a:p>
            <a:pPr marL="0" indent="0" algn="l">
              <a:buNone/>
            </a:pPr>
            <a:endParaRPr lang="en-US" sz="1300" dirty="0"/>
          </a:p>
        </p:txBody>
      </p:sp>
      <p:sp>
        <p:nvSpPr>
          <p:cNvPr id="4" name="Text 2"/>
          <p:cNvSpPr/>
          <p:nvPr/>
        </p:nvSpPr>
        <p:spPr>
          <a:xfrm>
            <a:off x="457200" y="897756"/>
            <a:ext cx="8229600" cy="1128996"/>
          </a:xfrm>
          <a:prstGeom prst="rect">
            <a:avLst/>
          </a:prstGeom>
          <a:noFill/>
          <a:ln/>
        </p:spPr>
        <p:txBody>
          <a:bodyPr wrap="square" lIns="0" tIns="0" rIns="0" bIns="0" rtlCol="0" anchor="t"/>
          <a:lstStyle/>
          <a:p>
            <a:pPr marL="285750" indent="-285750">
              <a:spcAft>
                <a:spcPts val="600"/>
              </a:spcAft>
              <a:buSzPct val="100000"/>
              <a:buFont typeface="Arial" panose="020B0604020202020204" pitchFamily="34" charset="0"/>
              <a:buChar char="•"/>
            </a:pPr>
            <a:r>
              <a:rPr lang="en-US" sz="1400" b="1" dirty="0">
                <a:solidFill>
                  <a:srgbClr val="E8ECF4"/>
                </a:solidFill>
                <a:latin typeface="Arial"/>
              </a:rPr>
              <a:t>Feature absorption</a:t>
            </a:r>
            <a:r>
              <a:rPr lang="en-US" sz="1400" dirty="0">
                <a:solidFill>
                  <a:srgbClr val="8A93A8"/>
                </a:solidFill>
                <a:latin typeface="Arial" pitchFamily="34" charset="0"/>
                <a:ea typeface="Arial" pitchFamily="34" charset="-122"/>
                <a:cs typeface="Arial" pitchFamily="34" charset="-120"/>
              </a:rPr>
              <a:t>: Too large latent space, creates features with high precision but low recall.</a:t>
            </a:r>
          </a:p>
          <a:p>
            <a:pPr marL="285750" indent="-285750">
              <a:spcAft>
                <a:spcPts val="600"/>
              </a:spcAft>
              <a:buSzPct val="100000"/>
              <a:buFont typeface="Arial" panose="020B0604020202020204" pitchFamily="34" charset="0"/>
              <a:buChar char="•"/>
            </a:pPr>
            <a:r>
              <a:rPr lang="en-US" sz="1400" b="1" dirty="0">
                <a:solidFill>
                  <a:srgbClr val="E8ECF4"/>
                </a:solidFill>
                <a:latin typeface="Arial"/>
              </a:rPr>
              <a:t>Feature shrinkage</a:t>
            </a:r>
            <a:r>
              <a:rPr lang="en-US" sz="1400" dirty="0">
                <a:solidFill>
                  <a:srgbClr val="8A93A8"/>
                </a:solidFill>
                <a:latin typeface="Arial" pitchFamily="34" charset="0"/>
                <a:cs typeface="Arial" pitchFamily="34" charset="-120"/>
              </a:rPr>
              <a:t>: </a:t>
            </a:r>
            <a:r>
              <a:rPr lang="en-US" sz="1400" dirty="0">
                <a:solidFill>
                  <a:srgbClr val="8A93A8"/>
                </a:solidFill>
                <a:latin typeface="Arial" pitchFamily="34" charset="0"/>
                <a:ea typeface="Arial" pitchFamily="34" charset="-122"/>
                <a:cs typeface="Arial" pitchFamily="34" charset="-120"/>
              </a:rPr>
              <a:t>ℓ₁ penalty creates features that are smaller than in the original network.</a:t>
            </a:r>
            <a:endParaRPr lang="en-US" sz="1400" dirty="0">
              <a:solidFill>
                <a:srgbClr val="8A93A8"/>
              </a:solidFill>
              <a:latin typeface="Arial" pitchFamily="34" charset="0"/>
              <a:cs typeface="Arial" pitchFamily="34" charset="-120"/>
            </a:endParaRPr>
          </a:p>
          <a:p>
            <a:pPr marL="342900" indent="-342900" algn="l">
              <a:spcAft>
                <a:spcPts val="600"/>
              </a:spcAft>
              <a:buSzPct val="100000"/>
              <a:buChar char="•"/>
            </a:pPr>
            <a:endParaRPr lang="en-US" sz="1400" dirty="0"/>
          </a:p>
        </p:txBody>
      </p:sp>
      <p:pic>
        <p:nvPicPr>
          <p:cNvPr id="5" name="Image 0" descr="/home/claude/fig_split.png"/>
          <p:cNvPicPr>
            <a:picLocks noChangeAspect="1"/>
          </p:cNvPicPr>
          <p:nvPr/>
        </p:nvPicPr>
        <p:blipFill>
          <a:blip r:embed="rId3"/>
          <a:stretch>
            <a:fillRect/>
          </a:stretch>
        </p:blipFill>
        <p:spPr>
          <a:xfrm>
            <a:off x="993140" y="1713274"/>
            <a:ext cx="7157720" cy="2806949"/>
          </a:xfrm>
          <a:prstGeom prst="rect">
            <a:avLst/>
          </a:prstGeom>
        </p:spPr>
      </p:pic>
      <p:pic>
        <p:nvPicPr>
          <p:cNvPr id="7" name="Picture 6">
            <a:extLst>
              <a:ext uri="{FF2B5EF4-FFF2-40B4-BE49-F238E27FC236}">
                <a16:creationId xmlns:a16="http://schemas.microsoft.com/office/drawing/2014/main" id="{CBBDAE67-D639-5A03-447A-0CAF4A9C14CD}"/>
              </a:ext>
            </a:extLst>
          </p:cNvPr>
          <p:cNvPicPr>
            <a:picLocks noChangeAspect="1"/>
          </p:cNvPicPr>
          <p:nvPr/>
        </p:nvPicPr>
        <p:blipFill>
          <a:blip r:embed="rId4"/>
          <a:stretch>
            <a:fillRect/>
          </a:stretch>
        </p:blipFill>
        <p:spPr>
          <a:xfrm>
            <a:off x="1301724" y="4688958"/>
            <a:ext cx="1016052" cy="323867"/>
          </a:xfrm>
          <a:prstGeom prst="rect">
            <a:avLst/>
          </a:prstGeom>
        </p:spPr>
      </p:pic>
      <p:pic>
        <p:nvPicPr>
          <p:cNvPr id="9" name="Picture 8">
            <a:extLst>
              <a:ext uri="{FF2B5EF4-FFF2-40B4-BE49-F238E27FC236}">
                <a16:creationId xmlns:a16="http://schemas.microsoft.com/office/drawing/2014/main" id="{1164DAB6-B92C-7132-77F7-7228DFAB986E}"/>
              </a:ext>
            </a:extLst>
          </p:cNvPr>
          <p:cNvPicPr>
            <a:picLocks noChangeAspect="1"/>
          </p:cNvPicPr>
          <p:nvPr/>
        </p:nvPicPr>
        <p:blipFill>
          <a:blip r:embed="rId4"/>
          <a:stretch>
            <a:fillRect/>
          </a:stretch>
        </p:blipFill>
        <p:spPr>
          <a:xfrm>
            <a:off x="2247874" y="4755078"/>
            <a:ext cx="1016052" cy="323867"/>
          </a:xfrm>
          <a:prstGeom prst="rect">
            <a:avLst/>
          </a:prstGeom>
        </p:spPr>
      </p:pic>
      <p:pic>
        <p:nvPicPr>
          <p:cNvPr id="11" name="Picture 10">
            <a:extLst>
              <a:ext uri="{FF2B5EF4-FFF2-40B4-BE49-F238E27FC236}">
                <a16:creationId xmlns:a16="http://schemas.microsoft.com/office/drawing/2014/main" id="{66A6F27A-726D-52DA-A3E7-3C2D999477F3}"/>
              </a:ext>
            </a:extLst>
          </p:cNvPr>
          <p:cNvPicPr>
            <a:picLocks noChangeAspect="1"/>
          </p:cNvPicPr>
          <p:nvPr/>
        </p:nvPicPr>
        <p:blipFill>
          <a:blip r:embed="rId4"/>
          <a:stretch>
            <a:fillRect/>
          </a:stretch>
        </p:blipFill>
        <p:spPr>
          <a:xfrm>
            <a:off x="3702050" y="4688958"/>
            <a:ext cx="1016052" cy="323867"/>
          </a:xfrm>
          <a:prstGeom prst="rect">
            <a:avLst/>
          </a:prstGeom>
        </p:spPr>
      </p:pic>
      <p:pic>
        <p:nvPicPr>
          <p:cNvPr id="13" name="Picture 12">
            <a:extLst>
              <a:ext uri="{FF2B5EF4-FFF2-40B4-BE49-F238E27FC236}">
                <a16:creationId xmlns:a16="http://schemas.microsoft.com/office/drawing/2014/main" id="{D8119509-1CC3-1906-D03B-F234C338AC86}"/>
              </a:ext>
            </a:extLst>
          </p:cNvPr>
          <p:cNvPicPr>
            <a:picLocks noChangeAspect="1"/>
          </p:cNvPicPr>
          <p:nvPr/>
        </p:nvPicPr>
        <p:blipFill>
          <a:blip r:embed="rId4"/>
          <a:stretch>
            <a:fillRect/>
          </a:stretch>
        </p:blipFill>
        <p:spPr>
          <a:xfrm>
            <a:off x="4648200" y="4788138"/>
            <a:ext cx="1016052" cy="323867"/>
          </a:xfrm>
          <a:prstGeom prst="rect">
            <a:avLst/>
          </a:prstGeom>
        </p:spPr>
      </p:pic>
      <p:pic>
        <p:nvPicPr>
          <p:cNvPr id="15" name="Picture 14">
            <a:extLst>
              <a:ext uri="{FF2B5EF4-FFF2-40B4-BE49-F238E27FC236}">
                <a16:creationId xmlns:a16="http://schemas.microsoft.com/office/drawing/2014/main" id="{6974B855-240A-2751-E1AC-1A04E096BF88}"/>
              </a:ext>
            </a:extLst>
          </p:cNvPr>
          <p:cNvPicPr>
            <a:picLocks noChangeAspect="1"/>
          </p:cNvPicPr>
          <p:nvPr/>
        </p:nvPicPr>
        <p:blipFill>
          <a:blip r:embed="rId4"/>
          <a:stretch>
            <a:fillRect/>
          </a:stretch>
        </p:blipFill>
        <p:spPr>
          <a:xfrm>
            <a:off x="5871184" y="4755077"/>
            <a:ext cx="1971092" cy="3238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41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475488"/>
          </a:xfrm>
          <a:prstGeom prst="rect">
            <a:avLst/>
          </a:prstGeom>
          <a:noFill/>
          <a:ln/>
        </p:spPr>
        <p:txBody>
          <a:bodyPr wrap="square" lIns="0" tIns="0" rIns="0" bIns="0" rtlCol="0" anchor="ctr"/>
          <a:lstStyle/>
          <a:p>
            <a:pPr marL="0" indent="0" algn="l">
              <a:buNone/>
            </a:pPr>
            <a:r>
              <a:rPr lang="en-US" sz="2600" b="1" dirty="0">
                <a:solidFill>
                  <a:srgbClr val="E8ECF4"/>
                </a:solidFill>
                <a:latin typeface="Arial" pitchFamily="34" charset="0"/>
                <a:ea typeface="Arial" pitchFamily="34" charset="-122"/>
                <a:cs typeface="Arial" pitchFamily="34" charset="-120"/>
              </a:rPr>
              <a:t>Parameter decomposition</a:t>
            </a:r>
            <a:endParaRPr lang="en-US" sz="2600" dirty="0"/>
          </a:p>
        </p:txBody>
      </p:sp>
      <p:sp>
        <p:nvSpPr>
          <p:cNvPr id="3" name="Text 1"/>
          <p:cNvSpPr/>
          <p:nvPr/>
        </p:nvSpPr>
        <p:spPr>
          <a:xfrm>
            <a:off x="457200" y="768096"/>
            <a:ext cx="8229600" cy="274320"/>
          </a:xfrm>
          <a:prstGeom prst="rect">
            <a:avLst/>
          </a:prstGeom>
          <a:noFill/>
          <a:ln/>
        </p:spPr>
        <p:txBody>
          <a:bodyPr wrap="square" lIns="0" tIns="0" rIns="0" bIns="0" rtlCol="0" anchor="ctr"/>
          <a:lstStyle/>
          <a:p>
            <a:pPr>
              <a:spcAft>
                <a:spcPts val="1000"/>
              </a:spcAft>
              <a:buSzPct val="100000"/>
            </a:pPr>
            <a:r>
              <a:rPr lang="en-US" sz="1200" b="1" dirty="0">
                <a:solidFill>
                  <a:srgbClr val="E8ECF4"/>
                </a:solidFill>
                <a:latin typeface="Arial" pitchFamily="34" charset="0"/>
                <a:ea typeface="Arial" pitchFamily="34" charset="-122"/>
                <a:cs typeface="Arial" pitchFamily="34" charset="-120"/>
              </a:rPr>
              <a:t>Directly tied to the weights</a:t>
            </a:r>
            <a:r>
              <a:rPr lang="en-US" sz="1200" dirty="0">
                <a:solidFill>
                  <a:srgbClr val="8A93A8"/>
                </a:solidFill>
                <a:latin typeface="Arial" pitchFamily="34" charset="0"/>
                <a:ea typeface="Arial" pitchFamily="34" charset="-122"/>
                <a:cs typeface="Arial" pitchFamily="34" charset="-120"/>
              </a:rPr>
              <a:t>: no second model trained to imitate activations.</a:t>
            </a:r>
            <a:endParaRPr lang="en-US" sz="1200" dirty="0"/>
          </a:p>
        </p:txBody>
      </p:sp>
      <p:sp>
        <p:nvSpPr>
          <p:cNvPr id="4" name="Text 2"/>
          <p:cNvSpPr/>
          <p:nvPr/>
        </p:nvSpPr>
        <p:spPr>
          <a:xfrm>
            <a:off x="457200" y="1318260"/>
            <a:ext cx="3931920" cy="777240"/>
          </a:xfrm>
          <a:prstGeom prst="rect">
            <a:avLst/>
          </a:prstGeom>
          <a:noFill/>
          <a:ln/>
        </p:spPr>
        <p:txBody>
          <a:bodyPr wrap="square" lIns="0" tIns="0" rIns="0" bIns="0" rtlCol="0" anchor="t"/>
          <a:lstStyle/>
          <a:p>
            <a:pPr marL="0" indent="0" algn="l">
              <a:lnSpc>
                <a:spcPct val="112000"/>
              </a:lnSpc>
              <a:buNone/>
            </a:pPr>
            <a:r>
              <a:rPr lang="en-US" sz="1400" dirty="0">
                <a:solidFill>
                  <a:srgbClr val="8A93A8"/>
                </a:solidFill>
                <a:latin typeface="Arial" pitchFamily="34" charset="0"/>
                <a:ea typeface="Arial" pitchFamily="34" charset="-122"/>
                <a:cs typeface="Arial" pitchFamily="34" charset="-120"/>
              </a:rPr>
              <a:t>Write every layer of the trained model as a sum of components, each implementing one mechanism:</a:t>
            </a:r>
            <a:endParaRPr lang="en-US" sz="1400" dirty="0"/>
          </a:p>
        </p:txBody>
      </p:sp>
      <p:sp>
        <p:nvSpPr>
          <p:cNvPr id="5" name="Text 3"/>
          <p:cNvSpPr/>
          <p:nvPr/>
        </p:nvSpPr>
        <p:spPr>
          <a:xfrm>
            <a:off x="565452" y="2008632"/>
            <a:ext cx="3291840" cy="365760"/>
          </a:xfrm>
          <a:prstGeom prst="rect">
            <a:avLst/>
          </a:prstGeom>
          <a:noFill/>
          <a:ln/>
        </p:spPr>
        <p:txBody>
          <a:bodyPr wrap="square" lIns="0" tIns="0" rIns="0" bIns="0" rtlCol="0" anchor="ctr"/>
          <a:lstStyle/>
          <a:p>
            <a:pPr marL="0" indent="0" algn="l">
              <a:buNone/>
            </a:pPr>
            <a:r>
              <a:rPr lang="en-US" sz="1700" dirty="0">
                <a:solidFill>
                  <a:srgbClr val="E8ECF4"/>
                </a:solidFill>
                <a:latin typeface="Cambria" pitchFamily="34" charset="0"/>
                <a:ea typeface="Cambria" pitchFamily="34" charset="-122"/>
                <a:cs typeface="Cambria" pitchFamily="34" charset="-120"/>
              </a:rPr>
              <a:t>W</a:t>
            </a:r>
            <a:r>
              <a:rPr lang="en-US" sz="1700" baseline="30000" dirty="0">
                <a:solidFill>
                  <a:srgbClr val="E8ECF4"/>
                </a:solidFill>
                <a:latin typeface="Cambria" pitchFamily="34" charset="0"/>
                <a:ea typeface="Cambria" pitchFamily="34" charset="-122"/>
                <a:cs typeface="Cambria" pitchFamily="34" charset="-120"/>
              </a:rPr>
              <a:t>l</a:t>
            </a:r>
            <a:r>
              <a:rPr lang="en-US" sz="1700" dirty="0">
                <a:solidFill>
                  <a:srgbClr val="E8ECF4"/>
                </a:solidFill>
                <a:latin typeface="Cambria" pitchFamily="34" charset="0"/>
                <a:ea typeface="Cambria" pitchFamily="34" charset="-122"/>
                <a:cs typeface="Cambria" pitchFamily="34" charset="-120"/>
              </a:rPr>
              <a:t> = Σ</a:t>
            </a:r>
            <a:r>
              <a:rPr lang="en-US" sz="1700" baseline="-40000" dirty="0">
                <a:solidFill>
                  <a:srgbClr val="E8ECF4"/>
                </a:solidFill>
                <a:latin typeface="Cambria" pitchFamily="34" charset="0"/>
                <a:ea typeface="Cambria" pitchFamily="34" charset="-122"/>
                <a:cs typeface="Cambria" pitchFamily="34" charset="-120"/>
              </a:rPr>
              <a:t>c</a:t>
            </a:r>
            <a:r>
              <a:rPr lang="en-US" sz="1700" dirty="0">
                <a:solidFill>
                  <a:srgbClr val="E8ECF4"/>
                </a:solidFill>
                <a:latin typeface="Cambria" pitchFamily="34" charset="0"/>
                <a:ea typeface="Cambria" pitchFamily="34" charset="-122"/>
                <a:cs typeface="Cambria" pitchFamily="34" charset="-120"/>
              </a:rPr>
              <a:t> W</a:t>
            </a:r>
            <a:r>
              <a:rPr lang="en-US" sz="1700" baseline="30000" dirty="0">
                <a:solidFill>
                  <a:srgbClr val="E8ECF4"/>
                </a:solidFill>
                <a:latin typeface="Cambria" pitchFamily="34" charset="0"/>
                <a:ea typeface="Cambria" pitchFamily="34" charset="-122"/>
                <a:cs typeface="Cambria" pitchFamily="34" charset="-120"/>
              </a:rPr>
              <a:t>l</a:t>
            </a:r>
            <a:r>
              <a:rPr lang="en-US" sz="1700" baseline="-40000" dirty="0">
                <a:solidFill>
                  <a:srgbClr val="E8ECF4"/>
                </a:solidFill>
                <a:latin typeface="Cambria" pitchFamily="34" charset="0"/>
                <a:ea typeface="Cambria" pitchFamily="34" charset="-122"/>
                <a:cs typeface="Cambria" pitchFamily="34" charset="-120"/>
              </a:rPr>
              <a:t>c</a:t>
            </a:r>
            <a:endParaRPr lang="en-US" sz="1700" dirty="0"/>
          </a:p>
        </p:txBody>
      </p:sp>
      <p:sp>
        <p:nvSpPr>
          <p:cNvPr id="6" name="Text 4"/>
          <p:cNvSpPr/>
          <p:nvPr/>
        </p:nvSpPr>
        <p:spPr>
          <a:xfrm>
            <a:off x="457200" y="2567940"/>
            <a:ext cx="3931920" cy="2103120"/>
          </a:xfrm>
          <a:prstGeom prst="rect">
            <a:avLst/>
          </a:prstGeom>
          <a:noFill/>
          <a:ln/>
        </p:spPr>
        <p:txBody>
          <a:bodyPr wrap="square" lIns="0" tIns="0" rIns="0" bIns="0" rtlCol="0" anchor="t"/>
          <a:lstStyle/>
          <a:p>
            <a:pPr marL="0" indent="0" algn="l">
              <a:spcAft>
                <a:spcPts val="800"/>
              </a:spcAft>
              <a:buNone/>
            </a:pPr>
            <a:r>
              <a:rPr lang="en-US" sz="1400" dirty="0">
                <a:solidFill>
                  <a:srgbClr val="E8ECF4"/>
                </a:solidFill>
                <a:latin typeface="Arial" pitchFamily="34" charset="0"/>
                <a:ea typeface="Arial" pitchFamily="34" charset="-122"/>
                <a:cs typeface="Arial" pitchFamily="34" charset="-120"/>
              </a:rPr>
              <a:t>A component is a mechanism if it is:</a:t>
            </a:r>
            <a:endParaRPr lang="en-US" sz="1400" dirty="0"/>
          </a:p>
          <a:p>
            <a:pPr marL="342900" indent="-342900">
              <a:spcAft>
                <a:spcPts val="800"/>
              </a:spcAft>
              <a:buSzPct val="100000"/>
              <a:buChar char="•"/>
            </a:pPr>
            <a:r>
              <a:rPr lang="en-US" sz="1400" b="1" dirty="0">
                <a:solidFill>
                  <a:srgbClr val="E8ECF4"/>
                </a:solidFill>
                <a:latin typeface="Arial"/>
              </a:rPr>
              <a:t>Faithful:</a:t>
            </a:r>
            <a:r>
              <a:rPr lang="en-US" sz="1400" dirty="0">
                <a:solidFill>
                  <a:srgbClr val="8A93A8"/>
                </a:solidFill>
                <a:latin typeface="Arial" pitchFamily="34" charset="0"/>
                <a:ea typeface="Arial" pitchFamily="34" charset="-122"/>
                <a:cs typeface="Arial" pitchFamily="34" charset="-120"/>
              </a:rPr>
              <a:t> the subcomponents sum to the original weights.</a:t>
            </a:r>
            <a:endParaRPr lang="en-US" sz="1400" dirty="0"/>
          </a:p>
          <a:p>
            <a:pPr marL="342900" indent="-342900">
              <a:spcAft>
                <a:spcPts val="800"/>
              </a:spcAft>
              <a:buSzPct val="100000"/>
              <a:buChar char="•"/>
            </a:pPr>
            <a:r>
              <a:rPr lang="en-US" sz="1400" b="1" dirty="0">
                <a:solidFill>
                  <a:srgbClr val="E8ECF4"/>
                </a:solidFill>
                <a:latin typeface="Arial"/>
              </a:rPr>
              <a:t>Minimal</a:t>
            </a:r>
            <a:r>
              <a:rPr lang="en-US" sz="1400" b="1" dirty="0">
                <a:solidFill>
                  <a:srgbClr val="8A93A8"/>
                </a:solidFill>
                <a:latin typeface="Arial" pitchFamily="34" charset="0"/>
                <a:cs typeface="Arial" pitchFamily="34" charset="-120"/>
              </a:rPr>
              <a:t>:</a:t>
            </a:r>
            <a:r>
              <a:rPr lang="en-US" sz="1400" dirty="0">
                <a:solidFill>
                  <a:srgbClr val="8A93A8"/>
                </a:solidFill>
                <a:latin typeface="Arial" pitchFamily="34" charset="0"/>
                <a:ea typeface="Arial" pitchFamily="34" charset="-122"/>
                <a:cs typeface="Arial" pitchFamily="34" charset="-120"/>
              </a:rPr>
              <a:t> as few subcomponents as possible are used to replicate the network output.</a:t>
            </a:r>
          </a:p>
          <a:p>
            <a:pPr marL="342900" indent="-342900">
              <a:spcAft>
                <a:spcPts val="800"/>
              </a:spcAft>
              <a:buSzPct val="100000"/>
              <a:buChar char="•"/>
            </a:pPr>
            <a:r>
              <a:rPr lang="en-US" sz="1400" b="1" dirty="0">
                <a:solidFill>
                  <a:srgbClr val="E8ECF4"/>
                </a:solidFill>
                <a:latin typeface="Arial"/>
              </a:rPr>
              <a:t>Simple:</a:t>
            </a:r>
            <a:r>
              <a:rPr lang="en-US" sz="1400" dirty="0">
                <a:solidFill>
                  <a:srgbClr val="8A93A8"/>
                </a:solidFill>
                <a:latin typeface="Arial" pitchFamily="34" charset="0"/>
                <a:ea typeface="Arial" pitchFamily="34" charset="-122"/>
                <a:cs typeface="Arial" pitchFamily="34" charset="-120"/>
              </a:rPr>
              <a:t> each component is low-rank</a:t>
            </a:r>
            <a:endParaRPr lang="en-US" sz="1400" dirty="0"/>
          </a:p>
        </p:txBody>
      </p:sp>
      <p:pic>
        <p:nvPicPr>
          <p:cNvPr id="9" name="Picture 8">
            <a:extLst>
              <a:ext uri="{FF2B5EF4-FFF2-40B4-BE49-F238E27FC236}">
                <a16:creationId xmlns:a16="http://schemas.microsoft.com/office/drawing/2014/main" id="{9DA2433E-60F6-A411-37EA-7F98979DA289}"/>
              </a:ext>
            </a:extLst>
          </p:cNvPr>
          <p:cNvPicPr>
            <a:picLocks noChangeAspect="1"/>
          </p:cNvPicPr>
          <p:nvPr/>
        </p:nvPicPr>
        <p:blipFill>
          <a:blip r:embed="rId3"/>
          <a:stretch>
            <a:fillRect/>
          </a:stretch>
        </p:blipFill>
        <p:spPr>
          <a:xfrm>
            <a:off x="5154932" y="1042416"/>
            <a:ext cx="3778444" cy="1263715"/>
          </a:xfrm>
          <a:prstGeom prst="rect">
            <a:avLst/>
          </a:prstGeom>
        </p:spPr>
      </p:pic>
      <p:pic>
        <p:nvPicPr>
          <p:cNvPr id="11" name="Picture 10">
            <a:extLst>
              <a:ext uri="{FF2B5EF4-FFF2-40B4-BE49-F238E27FC236}">
                <a16:creationId xmlns:a16="http://schemas.microsoft.com/office/drawing/2014/main" id="{1A8E16A3-4EA1-C56F-5B1E-C25927969D33}"/>
              </a:ext>
            </a:extLst>
          </p:cNvPr>
          <p:cNvPicPr>
            <a:picLocks noChangeAspect="1"/>
          </p:cNvPicPr>
          <p:nvPr/>
        </p:nvPicPr>
        <p:blipFill>
          <a:blip r:embed="rId4"/>
          <a:stretch>
            <a:fillRect/>
          </a:stretch>
        </p:blipFill>
        <p:spPr>
          <a:xfrm>
            <a:off x="5991194" y="2298686"/>
            <a:ext cx="1187511" cy="273064"/>
          </a:xfrm>
          <a:prstGeom prst="rect">
            <a:avLst/>
          </a:prstGeom>
        </p:spPr>
      </p:pic>
      <p:pic>
        <p:nvPicPr>
          <p:cNvPr id="7" name="Image 0" descr="/home/claude/fig_compare.png">
            <a:extLst>
              <a:ext uri="{FF2B5EF4-FFF2-40B4-BE49-F238E27FC236}">
                <a16:creationId xmlns:a16="http://schemas.microsoft.com/office/drawing/2014/main" id="{419C38A7-8559-6880-9598-DB1D78B79B4C}"/>
              </a:ext>
            </a:extLst>
          </p:cNvPr>
          <p:cNvPicPr>
            <a:picLocks noChangeAspect="1"/>
          </p:cNvPicPr>
          <p:nvPr/>
        </p:nvPicPr>
        <p:blipFill>
          <a:blip r:embed="rId5"/>
          <a:stretch>
            <a:fillRect/>
          </a:stretch>
        </p:blipFill>
        <p:spPr>
          <a:xfrm>
            <a:off x="5015230" y="2191512"/>
            <a:ext cx="3671570" cy="304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41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475488"/>
          </a:xfrm>
          <a:prstGeom prst="rect">
            <a:avLst/>
          </a:prstGeom>
          <a:noFill/>
          <a:ln/>
        </p:spPr>
        <p:txBody>
          <a:bodyPr wrap="square" lIns="0" tIns="0" rIns="0" bIns="0" rtlCol="0" anchor="ctr"/>
          <a:lstStyle/>
          <a:p>
            <a:pPr marL="0" indent="0" algn="l">
              <a:buNone/>
            </a:pPr>
            <a:r>
              <a:rPr lang="en-US" sz="2600" b="1" dirty="0">
                <a:solidFill>
                  <a:srgbClr val="E8ECF4"/>
                </a:solidFill>
                <a:latin typeface="Arial" pitchFamily="34" charset="0"/>
                <a:ea typeface="Arial" pitchFamily="34" charset="-122"/>
                <a:cs typeface="Arial" pitchFamily="34" charset="-120"/>
              </a:rPr>
              <a:t>SPD: how the decomposition is learnt</a:t>
            </a:r>
            <a:endParaRPr lang="en-US" sz="2600" dirty="0"/>
          </a:p>
        </p:txBody>
      </p:sp>
      <p:sp>
        <p:nvSpPr>
          <p:cNvPr id="3" name="Text 1"/>
          <p:cNvSpPr/>
          <p:nvPr/>
        </p:nvSpPr>
        <p:spPr>
          <a:xfrm>
            <a:off x="457200" y="768096"/>
            <a:ext cx="8229600" cy="274320"/>
          </a:xfrm>
          <a:prstGeom prst="rect">
            <a:avLst/>
          </a:prstGeom>
          <a:noFill/>
          <a:ln/>
        </p:spPr>
        <p:txBody>
          <a:bodyPr wrap="square" lIns="0" tIns="0" rIns="0" bIns="0" rtlCol="0" anchor="ctr"/>
          <a:lstStyle/>
          <a:p>
            <a:pPr marL="0" indent="0" algn="l">
              <a:buNone/>
            </a:pPr>
            <a:r>
              <a:rPr lang="en-US" sz="1300" dirty="0">
                <a:solidFill>
                  <a:srgbClr val="8A93A8"/>
                </a:solidFill>
                <a:latin typeface="Arial" pitchFamily="34" charset="0"/>
                <a:ea typeface="Arial" pitchFamily="34" charset="-122"/>
                <a:cs typeface="Arial" pitchFamily="34" charset="-120"/>
              </a:rPr>
              <a:t>Stochastic Parameter Decomposition (Bushnaq et al., 2025)</a:t>
            </a:r>
            <a:endParaRPr lang="en-US" sz="1300" dirty="0"/>
          </a:p>
        </p:txBody>
      </p:sp>
      <p:sp>
        <p:nvSpPr>
          <p:cNvPr id="4" name="Text 2"/>
          <p:cNvSpPr/>
          <p:nvPr/>
        </p:nvSpPr>
        <p:spPr>
          <a:xfrm>
            <a:off x="457199" y="1332230"/>
            <a:ext cx="4156715" cy="3474720"/>
          </a:xfrm>
          <a:prstGeom prst="rect">
            <a:avLst/>
          </a:prstGeom>
          <a:noFill/>
          <a:ln/>
        </p:spPr>
        <p:txBody>
          <a:bodyPr wrap="square" lIns="0" tIns="0" rIns="0" bIns="0" rtlCol="0" anchor="t"/>
          <a:lstStyle/>
          <a:p>
            <a:pPr marL="0" indent="0" algn="l">
              <a:spcAft>
                <a:spcPts val="700"/>
              </a:spcAft>
              <a:buNone/>
            </a:pPr>
            <a:r>
              <a:rPr lang="en-US" sz="1400" b="1" dirty="0">
                <a:solidFill>
                  <a:srgbClr val="E8ECF4"/>
                </a:solidFill>
                <a:latin typeface="Arial" pitchFamily="34" charset="0"/>
                <a:ea typeface="Arial" pitchFamily="34" charset="-122"/>
                <a:cs typeface="Arial" pitchFamily="34" charset="-120"/>
              </a:rPr>
              <a:t>Each matrix is split into rank-1 subcomponents</a:t>
            </a:r>
            <a:r>
              <a:rPr lang="en-US" sz="1350" dirty="0">
                <a:solidFill>
                  <a:srgbClr val="8A93A8"/>
                </a:solidFill>
                <a:latin typeface="Arial" pitchFamily="34" charset="0"/>
                <a:ea typeface="Arial" pitchFamily="34" charset="-122"/>
                <a:cs typeface="Arial" pitchFamily="34" charset="-120"/>
              </a:rPr>
              <a:t>, possibly more than its rank; full components are clusters of these.</a:t>
            </a:r>
            <a:endParaRPr lang="en-US" sz="1350" dirty="0"/>
          </a:p>
          <a:p>
            <a:pPr marL="0" indent="0" algn="l">
              <a:spcAft>
                <a:spcPts val="700"/>
              </a:spcAft>
              <a:buNone/>
            </a:pPr>
            <a:r>
              <a:rPr lang="en-US" sz="1400" b="1" dirty="0">
                <a:solidFill>
                  <a:srgbClr val="E8ECF4"/>
                </a:solidFill>
                <a:latin typeface="Arial" pitchFamily="34" charset="0"/>
                <a:ea typeface="Arial" pitchFamily="34" charset="-122"/>
                <a:cs typeface="Arial" pitchFamily="34" charset="-120"/>
              </a:rPr>
              <a:t>A learnt causal-importance function </a:t>
            </a:r>
            <a:r>
              <a:rPr lang="en-US" sz="1400" b="1" dirty="0" err="1">
                <a:solidFill>
                  <a:srgbClr val="E8ECF4"/>
                </a:solidFill>
                <a:latin typeface="Arial" pitchFamily="34" charset="0"/>
                <a:ea typeface="Arial" pitchFamily="34" charset="-122"/>
                <a:cs typeface="Arial" pitchFamily="34" charset="-120"/>
              </a:rPr>
              <a:t>g</a:t>
            </a:r>
            <a:r>
              <a:rPr lang="en-US" sz="1400" b="1" baseline="-40000" dirty="0" err="1">
                <a:solidFill>
                  <a:srgbClr val="E8ECF4"/>
                </a:solidFill>
                <a:latin typeface="Arial" pitchFamily="34" charset="0"/>
                <a:ea typeface="Arial" pitchFamily="34" charset="-122"/>
                <a:cs typeface="Arial" pitchFamily="34" charset="-120"/>
              </a:rPr>
              <a:t>c</a:t>
            </a:r>
            <a:r>
              <a:rPr lang="en-US" sz="1400" b="1" dirty="0">
                <a:solidFill>
                  <a:srgbClr val="E8ECF4"/>
                </a:solidFill>
                <a:latin typeface="Arial" pitchFamily="34" charset="0"/>
                <a:ea typeface="Arial" pitchFamily="34" charset="-122"/>
                <a:cs typeface="Arial" pitchFamily="34" charset="-120"/>
              </a:rPr>
              <a:t>(x)</a:t>
            </a:r>
            <a:r>
              <a:rPr lang="en-US" sz="1400" dirty="0">
                <a:solidFill>
                  <a:srgbClr val="8A93A8"/>
                </a:solidFill>
                <a:latin typeface="Arial" pitchFamily="34" charset="0"/>
                <a:ea typeface="Arial" pitchFamily="34" charset="-122"/>
                <a:cs typeface="Arial" pitchFamily="34" charset="-120"/>
              </a:rPr>
              <a:t> </a:t>
            </a:r>
            <a:r>
              <a:rPr lang="en-US" sz="1350" dirty="0">
                <a:solidFill>
                  <a:srgbClr val="8A93A8"/>
                </a:solidFill>
                <a:latin typeface="Arial" pitchFamily="34" charset="0"/>
                <a:ea typeface="Arial" pitchFamily="34" charset="-122"/>
                <a:cs typeface="Arial" pitchFamily="34" charset="-120"/>
              </a:rPr>
              <a:t>predicts whether a subcomponent is important for the computation of an input. </a:t>
            </a:r>
          </a:p>
          <a:p>
            <a:pPr marL="0" indent="0" algn="l">
              <a:spcAft>
                <a:spcPts val="700"/>
              </a:spcAft>
              <a:buNone/>
            </a:pPr>
            <a:r>
              <a:rPr lang="en-US" sz="1400" b="1" dirty="0">
                <a:solidFill>
                  <a:srgbClr val="E8ECF4"/>
                </a:solidFill>
                <a:latin typeface="Arial" pitchFamily="34" charset="0"/>
                <a:ea typeface="Arial" pitchFamily="34" charset="-122"/>
                <a:cs typeface="Arial" pitchFamily="34" charset="-120"/>
              </a:rPr>
              <a:t>Trained with three losses:</a:t>
            </a:r>
            <a:endParaRPr lang="en-US" sz="1400" b="1" dirty="0"/>
          </a:p>
          <a:p>
            <a:pPr marL="342900" indent="-342900">
              <a:spcAft>
                <a:spcPts val="700"/>
              </a:spcAft>
              <a:buSzPct val="100000"/>
              <a:buChar char="•"/>
            </a:pPr>
            <a:r>
              <a:rPr lang="en-US" sz="1400" b="1" dirty="0">
                <a:solidFill>
                  <a:srgbClr val="E8ECF4"/>
                </a:solidFill>
                <a:latin typeface="Arial"/>
              </a:rPr>
              <a:t>Faithfulness:</a:t>
            </a:r>
            <a:r>
              <a:rPr lang="en-US" sz="1350" dirty="0">
                <a:solidFill>
                  <a:srgbClr val="8A93A8"/>
                </a:solidFill>
                <a:latin typeface="Arial" pitchFamily="34" charset="0"/>
                <a:ea typeface="Arial" pitchFamily="34" charset="-122"/>
                <a:cs typeface="Arial" pitchFamily="34" charset="-120"/>
              </a:rPr>
              <a:t> subcomponents sum to the target weights</a:t>
            </a:r>
            <a:endParaRPr lang="en-US" sz="1350" dirty="0"/>
          </a:p>
          <a:p>
            <a:pPr marL="342900" indent="-342900">
              <a:spcAft>
                <a:spcPts val="700"/>
              </a:spcAft>
              <a:buSzPct val="100000"/>
              <a:buChar char="•"/>
            </a:pPr>
            <a:r>
              <a:rPr lang="en-US" sz="1400" b="1" dirty="0">
                <a:solidFill>
                  <a:srgbClr val="E8ECF4"/>
                </a:solidFill>
                <a:latin typeface="Arial"/>
              </a:rPr>
              <a:t>Stochastic reconstruction:</a:t>
            </a:r>
            <a:r>
              <a:rPr lang="en-US" sz="1350" dirty="0">
                <a:solidFill>
                  <a:srgbClr val="8A93A8"/>
                </a:solidFill>
                <a:latin typeface="Arial" pitchFamily="34" charset="0"/>
                <a:ea typeface="Arial" pitchFamily="34" charset="-122"/>
                <a:cs typeface="Arial" pitchFamily="34" charset="-120"/>
              </a:rPr>
              <a:t> ablate subcomponents if they don’t contribute to the output</a:t>
            </a:r>
          </a:p>
          <a:p>
            <a:pPr marL="342900" indent="-342900">
              <a:spcAft>
                <a:spcPts val="700"/>
              </a:spcAft>
              <a:buSzPct val="100000"/>
              <a:buChar char="•"/>
            </a:pPr>
            <a:r>
              <a:rPr lang="en-US" sz="1400" b="1" dirty="0">
                <a:solidFill>
                  <a:srgbClr val="E8ECF4"/>
                </a:solidFill>
                <a:latin typeface="Arial"/>
              </a:rPr>
              <a:t>Minimality: </a:t>
            </a:r>
            <a:r>
              <a:rPr lang="en-US" sz="1350" dirty="0">
                <a:solidFill>
                  <a:srgbClr val="8A93A8"/>
                </a:solidFill>
                <a:latin typeface="Arial" pitchFamily="34" charset="0"/>
                <a:ea typeface="Arial" pitchFamily="34" charset="-122"/>
                <a:cs typeface="Arial" pitchFamily="34" charset="-120"/>
              </a:rPr>
              <a:t>minimize the amount of causally important subcomponents</a:t>
            </a:r>
            <a:endParaRPr lang="en-US" sz="1350" dirty="0"/>
          </a:p>
        </p:txBody>
      </p:sp>
      <p:pic>
        <p:nvPicPr>
          <p:cNvPr id="5" name="Image 0" descr="/home/claude/fig_spdmethod.png"/>
          <p:cNvPicPr>
            <a:picLocks noChangeAspect="1"/>
          </p:cNvPicPr>
          <p:nvPr/>
        </p:nvPicPr>
        <p:blipFill>
          <a:blip r:embed="rId3"/>
          <a:stretch>
            <a:fillRect/>
          </a:stretch>
        </p:blipFill>
        <p:spPr>
          <a:xfrm>
            <a:off x="4754880" y="1188720"/>
            <a:ext cx="3931920" cy="3780692"/>
          </a:xfrm>
          <a:prstGeom prst="rect">
            <a:avLst/>
          </a:prstGeom>
        </p:spPr>
      </p:pic>
      <p:pic>
        <p:nvPicPr>
          <p:cNvPr id="9" name="Picture 8">
            <a:extLst>
              <a:ext uri="{FF2B5EF4-FFF2-40B4-BE49-F238E27FC236}">
                <a16:creationId xmlns:a16="http://schemas.microsoft.com/office/drawing/2014/main" id="{E68AAEDF-3E98-6472-F0EA-08C04255CA9C}"/>
              </a:ext>
            </a:extLst>
          </p:cNvPr>
          <p:cNvPicPr>
            <a:picLocks noChangeAspect="1"/>
          </p:cNvPicPr>
          <p:nvPr/>
        </p:nvPicPr>
        <p:blipFill>
          <a:blip r:embed="rId4"/>
          <a:stretch>
            <a:fillRect/>
          </a:stretch>
        </p:blipFill>
        <p:spPr>
          <a:xfrm>
            <a:off x="8329924" y="4017644"/>
            <a:ext cx="215911" cy="444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41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475488"/>
          </a:xfrm>
          <a:prstGeom prst="rect">
            <a:avLst/>
          </a:prstGeom>
          <a:noFill/>
          <a:ln/>
        </p:spPr>
        <p:txBody>
          <a:bodyPr wrap="square" lIns="0" tIns="0" rIns="0" bIns="0" rtlCol="0" anchor="ctr"/>
          <a:lstStyle/>
          <a:p>
            <a:pPr marL="0" indent="0" algn="l">
              <a:buNone/>
            </a:pPr>
            <a:r>
              <a:rPr lang="en-US" sz="2600" b="1" dirty="0">
                <a:solidFill>
                  <a:srgbClr val="E8ECF4"/>
                </a:solidFill>
                <a:latin typeface="Arial" pitchFamily="34" charset="0"/>
                <a:ea typeface="Arial" pitchFamily="34" charset="-122"/>
                <a:cs typeface="Arial" pitchFamily="34" charset="-120"/>
              </a:rPr>
              <a:t>The toy model of superposition (TMS 5-2)</a:t>
            </a:r>
            <a:endParaRPr lang="en-US" sz="2600" dirty="0"/>
          </a:p>
        </p:txBody>
      </p:sp>
      <p:sp>
        <p:nvSpPr>
          <p:cNvPr id="3" name="Text 1"/>
          <p:cNvSpPr/>
          <p:nvPr/>
        </p:nvSpPr>
        <p:spPr>
          <a:xfrm>
            <a:off x="457200" y="768096"/>
            <a:ext cx="8229600" cy="274320"/>
          </a:xfrm>
          <a:prstGeom prst="rect">
            <a:avLst/>
          </a:prstGeom>
          <a:noFill/>
          <a:ln/>
        </p:spPr>
        <p:txBody>
          <a:bodyPr wrap="square" lIns="0" tIns="0" rIns="0" bIns="0" rtlCol="0" anchor="ctr"/>
          <a:lstStyle/>
          <a:p>
            <a:pPr marL="0" indent="0" algn="l">
              <a:buNone/>
            </a:pPr>
            <a:r>
              <a:rPr lang="en-US" sz="1300" dirty="0">
                <a:solidFill>
                  <a:srgbClr val="8A93A8"/>
                </a:solidFill>
                <a:latin typeface="Arial" pitchFamily="34" charset="0"/>
                <a:ea typeface="Arial" pitchFamily="34" charset="-122"/>
                <a:cs typeface="Arial" pitchFamily="34" charset="-120"/>
              </a:rPr>
              <a:t>Five sparse features through a two-dimensional bottleneck</a:t>
            </a:r>
            <a:endParaRPr lang="en-US" sz="1300" dirty="0"/>
          </a:p>
        </p:txBody>
      </p:sp>
      <p:sp>
        <p:nvSpPr>
          <p:cNvPr id="4" name="Text 2"/>
          <p:cNvSpPr/>
          <p:nvPr/>
        </p:nvSpPr>
        <p:spPr>
          <a:xfrm>
            <a:off x="457200" y="1143000"/>
            <a:ext cx="8229600" cy="685800"/>
          </a:xfrm>
          <a:prstGeom prst="rect">
            <a:avLst/>
          </a:prstGeom>
          <a:noFill/>
          <a:ln/>
        </p:spPr>
        <p:txBody>
          <a:bodyPr wrap="square" lIns="0" tIns="0" rIns="0" bIns="0" rtlCol="0" anchor="t"/>
          <a:lstStyle/>
          <a:p>
            <a:pPr>
              <a:spcAft>
                <a:spcPts val="500"/>
              </a:spcAft>
            </a:pPr>
            <a:r>
              <a:rPr lang="en-US" sz="1400" b="1" dirty="0">
                <a:solidFill>
                  <a:srgbClr val="E8ECF4"/>
                </a:solidFill>
                <a:latin typeface="Arial" pitchFamily="34" charset="0"/>
                <a:ea typeface="Arial" pitchFamily="34" charset="-122"/>
                <a:cs typeface="Arial" pitchFamily="34" charset="-120"/>
              </a:rPr>
              <a:t>x̂ = </a:t>
            </a:r>
            <a:r>
              <a:rPr lang="en-US" sz="1400" b="1" dirty="0" err="1">
                <a:solidFill>
                  <a:srgbClr val="E8ECF4"/>
                </a:solidFill>
                <a:latin typeface="Arial" pitchFamily="34" charset="0"/>
                <a:ea typeface="Arial" pitchFamily="34" charset="-122"/>
                <a:cs typeface="Arial" pitchFamily="34" charset="-120"/>
              </a:rPr>
              <a:t>ReLU</a:t>
            </a:r>
            <a:r>
              <a:rPr lang="en-US" sz="1400" b="1" dirty="0">
                <a:solidFill>
                  <a:srgbClr val="E8ECF4"/>
                </a:solidFill>
                <a:latin typeface="Arial" pitchFamily="34" charset="0"/>
                <a:ea typeface="Arial" pitchFamily="34" charset="-122"/>
                <a:cs typeface="Arial" pitchFamily="34" charset="-120"/>
              </a:rPr>
              <a:t>(</a:t>
            </a:r>
            <a:r>
              <a:rPr lang="en-US" sz="1400" b="1" dirty="0" err="1">
                <a:solidFill>
                  <a:srgbClr val="E8ECF4"/>
                </a:solidFill>
                <a:latin typeface="Arial" pitchFamily="34" charset="0"/>
                <a:ea typeface="Arial" pitchFamily="34" charset="-122"/>
                <a:cs typeface="Arial" pitchFamily="34" charset="-120"/>
              </a:rPr>
              <a:t>WᵀWx</a:t>
            </a:r>
            <a:r>
              <a:rPr lang="en-US" sz="1400" b="1" dirty="0">
                <a:solidFill>
                  <a:srgbClr val="E8ECF4"/>
                </a:solidFill>
                <a:latin typeface="Arial" pitchFamily="34" charset="0"/>
                <a:ea typeface="Arial" pitchFamily="34" charset="-122"/>
                <a:cs typeface="Arial" pitchFamily="34" charset="-120"/>
              </a:rPr>
              <a:t> + b):</a:t>
            </a:r>
            <a:r>
              <a:rPr lang="en-US" sz="1400" dirty="0">
                <a:solidFill>
                  <a:srgbClr val="8A93A8"/>
                </a:solidFill>
                <a:latin typeface="Arial" pitchFamily="34" charset="0"/>
                <a:ea typeface="Arial" pitchFamily="34" charset="-122"/>
                <a:cs typeface="Arial" pitchFamily="34" charset="-120"/>
              </a:rPr>
              <a:t> Trained to learn an orthonormal transformation; however no inverse exists.</a:t>
            </a:r>
          </a:p>
          <a:p>
            <a:pPr>
              <a:spcAft>
                <a:spcPts val="500"/>
              </a:spcAft>
            </a:pPr>
            <a:r>
              <a:rPr lang="en-US" sz="1400" b="1" dirty="0">
                <a:solidFill>
                  <a:srgbClr val="E8ECF4"/>
                </a:solidFill>
                <a:latin typeface="Arial" pitchFamily="34" charset="0"/>
                <a:ea typeface="Arial" pitchFamily="34" charset="-122"/>
                <a:cs typeface="Arial" pitchFamily="34" charset="-120"/>
              </a:rPr>
              <a:t>Superposition: </a:t>
            </a:r>
            <a:r>
              <a:rPr lang="en-US" sz="1400" dirty="0">
                <a:solidFill>
                  <a:srgbClr val="8A93A8"/>
                </a:solidFill>
                <a:latin typeface="Arial" pitchFamily="34" charset="0"/>
                <a:ea typeface="Arial" pitchFamily="34" charset="-122"/>
                <a:cs typeface="Arial" pitchFamily="34" charset="-120"/>
              </a:rPr>
              <a:t>W spreads the features as orthogonally as possible: its columns form a polytope</a:t>
            </a:r>
            <a:endParaRPr lang="en-US" sz="1400" dirty="0"/>
          </a:p>
        </p:txBody>
      </p:sp>
      <p:pic>
        <p:nvPicPr>
          <p:cNvPr id="6" name="Image 0" descr="/home/claude/spd_tms52.png">
            <a:extLst>
              <a:ext uri="{FF2B5EF4-FFF2-40B4-BE49-F238E27FC236}">
                <a16:creationId xmlns:a16="http://schemas.microsoft.com/office/drawing/2014/main" id="{5FAC31CB-3F5D-FC0F-5735-AD58E95F05D3}"/>
              </a:ext>
            </a:extLst>
          </p:cNvPr>
          <p:cNvPicPr>
            <a:picLocks noChangeAspect="1"/>
          </p:cNvPicPr>
          <p:nvPr/>
        </p:nvPicPr>
        <p:blipFill>
          <a:blip r:embed="rId3"/>
          <a:stretch>
            <a:fillRect/>
          </a:stretch>
        </p:blipFill>
        <p:spPr>
          <a:xfrm>
            <a:off x="320040" y="1909870"/>
            <a:ext cx="8503920" cy="324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10141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475488"/>
          </a:xfrm>
          <a:prstGeom prst="rect">
            <a:avLst/>
          </a:prstGeom>
          <a:noFill/>
          <a:ln/>
        </p:spPr>
        <p:txBody>
          <a:bodyPr wrap="square" lIns="0" tIns="0" rIns="0" bIns="0" rtlCol="0" anchor="ctr"/>
          <a:lstStyle/>
          <a:p>
            <a:pPr marL="0" indent="0" algn="l">
              <a:buNone/>
            </a:pPr>
            <a:r>
              <a:rPr lang="en-US" sz="2600" b="1" dirty="0">
                <a:solidFill>
                  <a:srgbClr val="E8ECF4"/>
                </a:solidFill>
                <a:latin typeface="Arial" pitchFamily="34" charset="0"/>
                <a:ea typeface="Arial" pitchFamily="34" charset="-122"/>
                <a:cs typeface="Arial" pitchFamily="34" charset="-120"/>
              </a:rPr>
              <a:t>Why rank 1 might be insufficient</a:t>
            </a:r>
            <a:endParaRPr lang="en-US" sz="2600" dirty="0"/>
          </a:p>
        </p:txBody>
      </p:sp>
      <p:sp>
        <p:nvSpPr>
          <p:cNvPr id="3" name="Text 1"/>
          <p:cNvSpPr/>
          <p:nvPr/>
        </p:nvSpPr>
        <p:spPr>
          <a:xfrm>
            <a:off x="457200" y="768096"/>
            <a:ext cx="8229600" cy="274320"/>
          </a:xfrm>
          <a:prstGeom prst="rect">
            <a:avLst/>
          </a:prstGeom>
          <a:noFill/>
          <a:ln/>
        </p:spPr>
        <p:txBody>
          <a:bodyPr wrap="square" lIns="0" tIns="0" rIns="0" bIns="0" rtlCol="0" anchor="ctr"/>
          <a:lstStyle/>
          <a:p>
            <a:pPr marL="0" indent="0" algn="l">
              <a:buNone/>
            </a:pPr>
            <a:r>
              <a:rPr lang="en-US" sz="1300" dirty="0">
                <a:solidFill>
                  <a:srgbClr val="8A93A8"/>
                </a:solidFill>
                <a:latin typeface="Arial" pitchFamily="34" charset="0"/>
                <a:ea typeface="Arial" pitchFamily="34" charset="-122"/>
                <a:cs typeface="Arial" pitchFamily="34" charset="-120"/>
              </a:rPr>
              <a:t>Not all language model features are linear (Engels et al., 2024)</a:t>
            </a:r>
            <a:endParaRPr lang="en-US" sz="1300" dirty="0"/>
          </a:p>
        </p:txBody>
      </p:sp>
      <p:sp>
        <p:nvSpPr>
          <p:cNvPr id="4" name="Text 2"/>
          <p:cNvSpPr/>
          <p:nvPr/>
        </p:nvSpPr>
        <p:spPr>
          <a:xfrm>
            <a:off x="457200" y="1142999"/>
            <a:ext cx="8229600" cy="1612031"/>
          </a:xfrm>
          <a:prstGeom prst="rect">
            <a:avLst/>
          </a:prstGeom>
          <a:noFill/>
          <a:ln/>
        </p:spPr>
        <p:txBody>
          <a:bodyPr wrap="square" lIns="0" tIns="0" rIns="0" bIns="0" rtlCol="0" anchor="t"/>
          <a:lstStyle/>
          <a:p>
            <a:pPr marL="0" indent="0" algn="l">
              <a:spcAft>
                <a:spcPts val="500"/>
              </a:spcAft>
              <a:buNone/>
            </a:pPr>
            <a:r>
              <a:rPr lang="en-US" sz="1400" b="1" dirty="0">
                <a:solidFill>
                  <a:srgbClr val="E8ECF4"/>
                </a:solidFill>
                <a:latin typeface="Arial" pitchFamily="34" charset="0"/>
                <a:ea typeface="Arial" pitchFamily="34" charset="-122"/>
                <a:cs typeface="Arial" pitchFamily="34" charset="-120"/>
              </a:rPr>
              <a:t>The linear representation hypothesis does not apply to every feature:</a:t>
            </a:r>
            <a:r>
              <a:rPr lang="en-US" sz="1400" dirty="0">
                <a:solidFill>
                  <a:srgbClr val="8A93A8"/>
                </a:solidFill>
                <a:latin typeface="Arial" pitchFamily="34" charset="0"/>
                <a:ea typeface="Arial" pitchFamily="34" charset="-122"/>
                <a:cs typeface="Arial" pitchFamily="34" charset="-120"/>
              </a:rPr>
              <a:t> Some network concepts lie in a higher dimensional subspace.</a:t>
            </a:r>
          </a:p>
          <a:p>
            <a:pPr marL="0" indent="0" algn="l">
              <a:spcAft>
                <a:spcPts val="500"/>
              </a:spcAft>
              <a:buNone/>
            </a:pPr>
            <a:r>
              <a:rPr lang="en-US" sz="1400" b="1" dirty="0">
                <a:solidFill>
                  <a:srgbClr val="E8ECF4"/>
                </a:solidFill>
                <a:latin typeface="Arial" pitchFamily="34" charset="0"/>
                <a:ea typeface="Arial" pitchFamily="34" charset="-122"/>
                <a:cs typeface="Arial" pitchFamily="34" charset="-120"/>
              </a:rPr>
              <a:t>Multidimensional features in various models:</a:t>
            </a:r>
            <a:r>
              <a:rPr lang="en-US" sz="1400" dirty="0">
                <a:solidFill>
                  <a:srgbClr val="8A93A8"/>
                </a:solidFill>
                <a:latin typeface="Arial" pitchFamily="34" charset="0"/>
                <a:ea typeface="Arial" pitchFamily="34" charset="-122"/>
                <a:cs typeface="Arial" pitchFamily="34" charset="-120"/>
              </a:rPr>
              <a:t> RNNs represent features by magnitude, transformers represent days of the week and modular arithmetic in higher dimensional spaces.</a:t>
            </a:r>
          </a:p>
          <a:p>
            <a:pPr>
              <a:spcAft>
                <a:spcPts val="500"/>
              </a:spcAft>
            </a:pPr>
            <a:r>
              <a:rPr lang="en-US" sz="1400" b="1" dirty="0">
                <a:solidFill>
                  <a:srgbClr val="E8ECF4"/>
                </a:solidFill>
                <a:latin typeface="Arial" pitchFamily="34" charset="0"/>
                <a:cs typeface="Arial" pitchFamily="34" charset="-120"/>
              </a:rPr>
              <a:t>Options: </a:t>
            </a:r>
            <a:r>
              <a:rPr lang="en-US" sz="1400" dirty="0">
                <a:solidFill>
                  <a:srgbClr val="8A93A8"/>
                </a:solidFill>
                <a:latin typeface="Arial" pitchFamily="34" charset="0"/>
                <a:cs typeface="Arial" pitchFamily="34" charset="-120"/>
              </a:rPr>
              <a:t>Cluster subcomponents after training or increase the rank of subcomponents.</a:t>
            </a:r>
            <a:endParaRPr lang="en-US" sz="1400" dirty="0">
              <a:solidFill>
                <a:srgbClr val="8A93A8"/>
              </a:solidFill>
              <a:latin typeface="Arial" pitchFamily="34" charset="0"/>
              <a:ea typeface="Arial" pitchFamily="34" charset="-122"/>
              <a:cs typeface="Arial" pitchFamily="34" charset="-120"/>
            </a:endParaRPr>
          </a:p>
        </p:txBody>
      </p:sp>
      <p:pic>
        <p:nvPicPr>
          <p:cNvPr id="5" name="Image 0" descr="/home/claude/fig_multidim.png"/>
          <p:cNvPicPr>
            <a:picLocks noChangeAspect="1"/>
          </p:cNvPicPr>
          <p:nvPr/>
        </p:nvPicPr>
        <p:blipFill>
          <a:blip r:embed="rId3"/>
          <a:stretch>
            <a:fillRect/>
          </a:stretch>
        </p:blipFill>
        <p:spPr>
          <a:xfrm>
            <a:off x="365760" y="2460498"/>
            <a:ext cx="8412480" cy="2740221"/>
          </a:xfrm>
          <a:prstGeom prst="rect">
            <a:avLst/>
          </a:prstGeom>
        </p:spPr>
      </p:pic>
      <p:pic>
        <p:nvPicPr>
          <p:cNvPr id="7" name="Picture 6">
            <a:extLst>
              <a:ext uri="{FF2B5EF4-FFF2-40B4-BE49-F238E27FC236}">
                <a16:creationId xmlns:a16="http://schemas.microsoft.com/office/drawing/2014/main" id="{72D2E666-9C52-96B8-F426-D5303FD4B054}"/>
              </a:ext>
            </a:extLst>
          </p:cNvPr>
          <p:cNvPicPr>
            <a:picLocks noChangeAspect="1"/>
          </p:cNvPicPr>
          <p:nvPr/>
        </p:nvPicPr>
        <p:blipFill>
          <a:blip r:embed="rId4"/>
          <a:stretch>
            <a:fillRect/>
          </a:stretch>
        </p:blipFill>
        <p:spPr>
          <a:xfrm>
            <a:off x="457200" y="2779629"/>
            <a:ext cx="8636444" cy="2076557"/>
          </a:xfrm>
          <a:prstGeom prst="rect">
            <a:avLst/>
          </a:prstGeom>
        </p:spPr>
      </p:pic>
      <p:pic>
        <p:nvPicPr>
          <p:cNvPr id="9" name="Picture 8">
            <a:extLst>
              <a:ext uri="{FF2B5EF4-FFF2-40B4-BE49-F238E27FC236}">
                <a16:creationId xmlns:a16="http://schemas.microsoft.com/office/drawing/2014/main" id="{66B38546-AF11-EFD4-521D-35F4AA7F6DE3}"/>
              </a:ext>
            </a:extLst>
          </p:cNvPr>
          <p:cNvPicPr>
            <a:picLocks noChangeAspect="1"/>
          </p:cNvPicPr>
          <p:nvPr/>
        </p:nvPicPr>
        <p:blipFill>
          <a:blip r:embed="rId5"/>
          <a:stretch>
            <a:fillRect/>
          </a:stretch>
        </p:blipFill>
        <p:spPr>
          <a:xfrm>
            <a:off x="615839" y="4952990"/>
            <a:ext cx="4292821" cy="381020"/>
          </a:xfrm>
          <a:prstGeom prst="rect">
            <a:avLst/>
          </a:prstGeom>
        </p:spPr>
      </p:pic>
      <p:pic>
        <p:nvPicPr>
          <p:cNvPr id="11" name="Picture 10">
            <a:extLst>
              <a:ext uri="{FF2B5EF4-FFF2-40B4-BE49-F238E27FC236}">
                <a16:creationId xmlns:a16="http://schemas.microsoft.com/office/drawing/2014/main" id="{BD9EA737-A243-8D87-6CB1-15B8BC807E72}"/>
              </a:ext>
            </a:extLst>
          </p:cNvPr>
          <p:cNvPicPr>
            <a:picLocks noChangeAspect="1"/>
          </p:cNvPicPr>
          <p:nvPr/>
        </p:nvPicPr>
        <p:blipFill>
          <a:blip r:embed="rId5"/>
          <a:stretch>
            <a:fillRect/>
          </a:stretch>
        </p:blipFill>
        <p:spPr>
          <a:xfrm>
            <a:off x="4697040" y="4853780"/>
            <a:ext cx="4292821" cy="381020"/>
          </a:xfrm>
          <a:prstGeom prst="rect">
            <a:avLst/>
          </a:prstGeom>
        </p:spPr>
      </p:pic>
      <p:pic>
        <p:nvPicPr>
          <p:cNvPr id="13" name="Picture 12">
            <a:extLst>
              <a:ext uri="{FF2B5EF4-FFF2-40B4-BE49-F238E27FC236}">
                <a16:creationId xmlns:a16="http://schemas.microsoft.com/office/drawing/2014/main" id="{3BCADDC4-EB53-B066-7F6D-BAAFE226C327}"/>
              </a:ext>
            </a:extLst>
          </p:cNvPr>
          <p:cNvPicPr>
            <a:picLocks noChangeAspect="1"/>
          </p:cNvPicPr>
          <p:nvPr/>
        </p:nvPicPr>
        <p:blipFill>
          <a:blip r:embed="rId6"/>
          <a:stretch>
            <a:fillRect/>
          </a:stretch>
        </p:blipFill>
        <p:spPr>
          <a:xfrm>
            <a:off x="8213049" y="2977278"/>
            <a:ext cx="276912" cy="295089"/>
          </a:xfrm>
          <a:prstGeom prst="rect">
            <a:avLst/>
          </a:prstGeom>
        </p:spPr>
      </p:pic>
      <p:pic>
        <p:nvPicPr>
          <p:cNvPr id="8" name="Picture 7">
            <a:extLst>
              <a:ext uri="{FF2B5EF4-FFF2-40B4-BE49-F238E27FC236}">
                <a16:creationId xmlns:a16="http://schemas.microsoft.com/office/drawing/2014/main" id="{D00A3074-58F0-D546-A2D5-1D982A0F3AF6}"/>
              </a:ext>
            </a:extLst>
          </p:cNvPr>
          <p:cNvPicPr>
            <a:picLocks noChangeAspect="1"/>
          </p:cNvPicPr>
          <p:nvPr/>
        </p:nvPicPr>
        <p:blipFill>
          <a:blip r:embed="rId7"/>
          <a:stretch>
            <a:fillRect/>
          </a:stretch>
        </p:blipFill>
        <p:spPr>
          <a:xfrm>
            <a:off x="2689207" y="4676812"/>
            <a:ext cx="692186" cy="196860"/>
          </a:xfrm>
          <a:prstGeom prst="rect">
            <a:avLst/>
          </a:prstGeom>
        </p:spPr>
      </p:pic>
      <p:pic>
        <p:nvPicPr>
          <p:cNvPr id="12" name="Picture 11">
            <a:extLst>
              <a:ext uri="{FF2B5EF4-FFF2-40B4-BE49-F238E27FC236}">
                <a16:creationId xmlns:a16="http://schemas.microsoft.com/office/drawing/2014/main" id="{35D6837F-9DFC-6146-3822-A4AC1274657B}"/>
              </a:ext>
            </a:extLst>
          </p:cNvPr>
          <p:cNvPicPr>
            <a:picLocks noChangeAspect="1"/>
          </p:cNvPicPr>
          <p:nvPr/>
        </p:nvPicPr>
        <p:blipFill>
          <a:blip r:embed="rId8"/>
          <a:stretch>
            <a:fillRect/>
          </a:stretch>
        </p:blipFill>
        <p:spPr>
          <a:xfrm>
            <a:off x="2339932" y="4625206"/>
            <a:ext cx="1644735" cy="273064"/>
          </a:xfrm>
          <a:prstGeom prst="rect">
            <a:avLst/>
          </a:prstGeom>
        </p:spPr>
      </p:pic>
      <p:pic>
        <p:nvPicPr>
          <p:cNvPr id="15" name="Picture 14">
            <a:extLst>
              <a:ext uri="{FF2B5EF4-FFF2-40B4-BE49-F238E27FC236}">
                <a16:creationId xmlns:a16="http://schemas.microsoft.com/office/drawing/2014/main" id="{514503B5-0E25-9806-6B1E-60F7F28EAF1D}"/>
              </a:ext>
            </a:extLst>
          </p:cNvPr>
          <p:cNvPicPr>
            <a:picLocks noChangeAspect="1"/>
          </p:cNvPicPr>
          <p:nvPr/>
        </p:nvPicPr>
        <p:blipFill>
          <a:blip r:embed="rId9"/>
          <a:stretch>
            <a:fillRect/>
          </a:stretch>
        </p:blipFill>
        <p:spPr>
          <a:xfrm>
            <a:off x="3905156" y="4682326"/>
            <a:ext cx="501676" cy="1968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0141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475488"/>
          </a:xfrm>
          <a:prstGeom prst="rect">
            <a:avLst/>
          </a:prstGeom>
          <a:noFill/>
          <a:ln/>
        </p:spPr>
        <p:txBody>
          <a:bodyPr wrap="square" lIns="0" tIns="0" rIns="0" bIns="0" rtlCol="0" anchor="ctr"/>
          <a:lstStyle/>
          <a:p>
            <a:pPr marL="0" indent="0" algn="l">
              <a:buNone/>
            </a:pPr>
            <a:r>
              <a:rPr lang="en-US" sz="2600" b="1" dirty="0">
                <a:solidFill>
                  <a:srgbClr val="E8ECF4"/>
                </a:solidFill>
                <a:latin typeface="Arial" pitchFamily="34" charset="0"/>
                <a:ea typeface="Arial" pitchFamily="34" charset="-122"/>
                <a:cs typeface="Arial" pitchFamily="34" charset="-120"/>
              </a:rPr>
              <a:t>What this thesis explores: rank-k subcomponents</a:t>
            </a:r>
            <a:endParaRPr lang="en-US" sz="2600" dirty="0"/>
          </a:p>
        </p:txBody>
      </p:sp>
      <p:sp>
        <p:nvSpPr>
          <p:cNvPr id="3" name="Text 1"/>
          <p:cNvSpPr/>
          <p:nvPr/>
        </p:nvSpPr>
        <p:spPr>
          <a:xfrm>
            <a:off x="457200" y="768096"/>
            <a:ext cx="8229600" cy="274320"/>
          </a:xfrm>
          <a:prstGeom prst="rect">
            <a:avLst/>
          </a:prstGeom>
          <a:noFill/>
          <a:ln/>
        </p:spPr>
        <p:txBody>
          <a:bodyPr wrap="square" lIns="0" tIns="0" rIns="0" bIns="0" rtlCol="0" anchor="ctr"/>
          <a:lstStyle/>
          <a:p>
            <a:pPr marL="0" indent="0" algn="l">
              <a:buNone/>
            </a:pPr>
            <a:endParaRPr lang="en-US" sz="1300" dirty="0"/>
          </a:p>
        </p:txBody>
      </p:sp>
      <p:sp>
        <p:nvSpPr>
          <p:cNvPr id="4" name="Text 2"/>
          <p:cNvSpPr/>
          <p:nvPr/>
        </p:nvSpPr>
        <p:spPr>
          <a:xfrm>
            <a:off x="450851" y="1042416"/>
            <a:ext cx="3931920" cy="594360"/>
          </a:xfrm>
          <a:prstGeom prst="rect">
            <a:avLst/>
          </a:prstGeom>
          <a:noFill/>
          <a:ln/>
        </p:spPr>
        <p:txBody>
          <a:bodyPr wrap="square" lIns="0" tIns="0" rIns="0" bIns="0" rtlCol="0" anchor="t"/>
          <a:lstStyle/>
          <a:p>
            <a:pPr marL="0" indent="0" algn="l">
              <a:lnSpc>
                <a:spcPct val="112000"/>
              </a:lnSpc>
              <a:buNone/>
            </a:pPr>
            <a:r>
              <a:rPr lang="en-US" sz="1400" dirty="0">
                <a:solidFill>
                  <a:srgbClr val="8A93A8"/>
                </a:solidFill>
                <a:latin typeface="Arial" pitchFamily="34" charset="0"/>
                <a:ea typeface="Arial" pitchFamily="34" charset="-122"/>
                <a:cs typeface="Arial" pitchFamily="34" charset="-120"/>
              </a:rPr>
              <a:t>Replace the outer product by a low-rank matrix multiplication per subcomponent:</a:t>
            </a:r>
            <a:endParaRPr lang="en-US" sz="1400" dirty="0"/>
          </a:p>
        </p:txBody>
      </p:sp>
      <p:sp>
        <p:nvSpPr>
          <p:cNvPr id="5" name="Text 3"/>
          <p:cNvSpPr/>
          <p:nvPr/>
        </p:nvSpPr>
        <p:spPr>
          <a:xfrm>
            <a:off x="457200" y="1636776"/>
            <a:ext cx="3474720" cy="365760"/>
          </a:xfrm>
          <a:prstGeom prst="rect">
            <a:avLst/>
          </a:prstGeom>
          <a:noFill/>
          <a:ln/>
        </p:spPr>
        <p:txBody>
          <a:bodyPr wrap="square" lIns="0" tIns="0" rIns="0" bIns="0" rtlCol="0" anchor="ctr"/>
          <a:lstStyle/>
          <a:p>
            <a:pPr marL="0" indent="0" algn="l">
              <a:buNone/>
            </a:pPr>
            <a:r>
              <a:rPr lang="en-US" sz="1600" dirty="0">
                <a:solidFill>
                  <a:srgbClr val="E8ECF4"/>
                </a:solidFill>
                <a:latin typeface="Cambria" pitchFamily="34" charset="0"/>
                <a:ea typeface="Cambria" pitchFamily="34" charset="-122"/>
                <a:cs typeface="Cambria" pitchFamily="34" charset="-120"/>
              </a:rPr>
              <a:t>W</a:t>
            </a:r>
            <a:r>
              <a:rPr lang="en-US" sz="1600" baseline="30000" dirty="0">
                <a:solidFill>
                  <a:srgbClr val="E8ECF4"/>
                </a:solidFill>
                <a:latin typeface="Cambria" pitchFamily="34" charset="0"/>
                <a:ea typeface="Cambria" pitchFamily="34" charset="-122"/>
                <a:cs typeface="Cambria" pitchFamily="34" charset="-120"/>
              </a:rPr>
              <a:t>l</a:t>
            </a:r>
            <a:r>
              <a:rPr lang="en-US" sz="1600" baseline="-40000" dirty="0">
                <a:solidFill>
                  <a:srgbClr val="E8ECF4"/>
                </a:solidFill>
                <a:latin typeface="Cambria" pitchFamily="34" charset="0"/>
                <a:ea typeface="Cambria" pitchFamily="34" charset="-122"/>
                <a:cs typeface="Cambria" pitchFamily="34" charset="-120"/>
              </a:rPr>
              <a:t>c</a:t>
            </a:r>
            <a:r>
              <a:rPr lang="en-US" sz="1600" dirty="0">
                <a:solidFill>
                  <a:srgbClr val="E8ECF4"/>
                </a:solidFill>
                <a:latin typeface="Cambria" pitchFamily="34" charset="0"/>
                <a:ea typeface="Cambria" pitchFamily="34" charset="-122"/>
                <a:cs typeface="Cambria" pitchFamily="34" charset="-120"/>
              </a:rPr>
              <a:t> = U</a:t>
            </a:r>
            <a:r>
              <a:rPr lang="en-US" sz="1600" baseline="-40000" dirty="0">
                <a:solidFill>
                  <a:srgbClr val="E8ECF4"/>
                </a:solidFill>
                <a:latin typeface="Cambria" pitchFamily="34" charset="0"/>
                <a:ea typeface="Cambria" pitchFamily="34" charset="-122"/>
                <a:cs typeface="Cambria" pitchFamily="34" charset="-120"/>
              </a:rPr>
              <a:t>c</a:t>
            </a:r>
            <a:r>
              <a:rPr lang="en-US" sz="1600" dirty="0">
                <a:solidFill>
                  <a:srgbClr val="E8ECF4"/>
                </a:solidFill>
                <a:latin typeface="Cambria" pitchFamily="34" charset="0"/>
                <a:ea typeface="Cambria" pitchFamily="34" charset="-122"/>
                <a:cs typeface="Cambria" pitchFamily="34" charset="-120"/>
              </a:rPr>
              <a:t>V</a:t>
            </a:r>
            <a:r>
              <a:rPr lang="en-US" sz="1600" baseline="-40000" dirty="0">
                <a:solidFill>
                  <a:srgbClr val="E8ECF4"/>
                </a:solidFill>
                <a:latin typeface="Cambria" pitchFamily="34" charset="0"/>
                <a:ea typeface="Cambria" pitchFamily="34" charset="-122"/>
                <a:cs typeface="Cambria" pitchFamily="34" charset="-120"/>
              </a:rPr>
              <a:t>c</a:t>
            </a:r>
            <a:r>
              <a:rPr lang="en-US" sz="1600" dirty="0">
                <a:solidFill>
                  <a:srgbClr val="E8ECF4"/>
                </a:solidFill>
                <a:latin typeface="Cambria" pitchFamily="34" charset="0"/>
                <a:ea typeface="Cambria" pitchFamily="34" charset="-122"/>
                <a:cs typeface="Cambria" pitchFamily="34" charset="-120"/>
              </a:rPr>
              <a:t>,   rank(W</a:t>
            </a:r>
            <a:r>
              <a:rPr lang="en-US" sz="1600" baseline="30000" dirty="0">
                <a:solidFill>
                  <a:srgbClr val="E8ECF4"/>
                </a:solidFill>
                <a:latin typeface="Cambria" pitchFamily="34" charset="0"/>
                <a:ea typeface="Cambria" pitchFamily="34" charset="-122"/>
                <a:cs typeface="Cambria" pitchFamily="34" charset="-120"/>
              </a:rPr>
              <a:t>l</a:t>
            </a:r>
            <a:r>
              <a:rPr lang="en-US" sz="1600" baseline="-40000" dirty="0">
                <a:solidFill>
                  <a:srgbClr val="E8ECF4"/>
                </a:solidFill>
                <a:latin typeface="Cambria" pitchFamily="34" charset="0"/>
                <a:ea typeface="Cambria" pitchFamily="34" charset="-122"/>
                <a:cs typeface="Cambria" pitchFamily="34" charset="-120"/>
              </a:rPr>
              <a:t>c</a:t>
            </a:r>
            <a:r>
              <a:rPr lang="en-US" sz="1600" dirty="0">
                <a:solidFill>
                  <a:srgbClr val="E8ECF4"/>
                </a:solidFill>
                <a:latin typeface="Cambria" pitchFamily="34" charset="0"/>
                <a:ea typeface="Cambria" pitchFamily="34" charset="-122"/>
                <a:cs typeface="Cambria" pitchFamily="34" charset="-120"/>
              </a:rPr>
              <a:t>) ≤ k</a:t>
            </a:r>
            <a:endParaRPr lang="en-US" sz="1600" dirty="0"/>
          </a:p>
        </p:txBody>
      </p:sp>
      <p:sp>
        <p:nvSpPr>
          <p:cNvPr id="6" name="Text 4"/>
          <p:cNvSpPr/>
          <p:nvPr/>
        </p:nvSpPr>
        <p:spPr>
          <a:xfrm>
            <a:off x="502920" y="2177422"/>
            <a:ext cx="4114800" cy="2051678"/>
          </a:xfrm>
          <a:prstGeom prst="rect">
            <a:avLst/>
          </a:prstGeom>
          <a:noFill/>
          <a:ln/>
        </p:spPr>
        <p:txBody>
          <a:bodyPr wrap="square" lIns="0" tIns="0" rIns="0" bIns="0" rtlCol="0" anchor="t"/>
          <a:lstStyle/>
          <a:p>
            <a:pPr>
              <a:spcAft>
                <a:spcPts val="800"/>
              </a:spcAft>
            </a:pPr>
            <a:r>
              <a:rPr lang="en-US" sz="1400" dirty="0">
                <a:solidFill>
                  <a:srgbClr val="8A93A8"/>
                </a:solidFill>
                <a:latin typeface="Arial" pitchFamily="34" charset="0"/>
                <a:ea typeface="Arial" pitchFamily="34" charset="-122"/>
                <a:cs typeface="Arial" pitchFamily="34" charset="-120"/>
              </a:rPr>
              <a:t>The losses are indifferent to how features are split across subcomponents: </a:t>
            </a:r>
            <a:endParaRPr lang="en-US" sz="1400" dirty="0">
              <a:solidFill>
                <a:schemeClr val="bg2">
                  <a:lumMod val="50000"/>
                </a:schemeClr>
              </a:solidFill>
              <a:latin typeface="Arial" panose="020B0604020202020204" pitchFamily="34" charset="0"/>
              <a:ea typeface="Arial" pitchFamily="34" charset="-122"/>
              <a:cs typeface="Arial" panose="020B0604020202020204" pitchFamily="34" charset="0"/>
            </a:endParaRPr>
          </a:p>
          <a:p>
            <a:pPr marL="285750" indent="-285750">
              <a:spcAft>
                <a:spcPts val="800"/>
              </a:spcAft>
              <a:buSzPct val="100000"/>
              <a:buFont typeface="Arial" panose="020B0604020202020204" pitchFamily="34" charset="0"/>
              <a:buChar char="•"/>
            </a:pPr>
            <a:r>
              <a:rPr lang="en-US" sz="1200" b="1" dirty="0">
                <a:solidFill>
                  <a:srgbClr val="E8ECF4"/>
                </a:solidFill>
                <a:latin typeface="Arial"/>
              </a:rPr>
              <a:t>Faithfulness:</a:t>
            </a:r>
            <a:r>
              <a:rPr lang="en-US" sz="1350" dirty="0">
                <a:solidFill>
                  <a:srgbClr val="8A93A8"/>
                </a:solidFill>
                <a:latin typeface="Arial" pitchFamily="34" charset="0"/>
                <a:ea typeface="Arial" pitchFamily="34" charset="-122"/>
                <a:cs typeface="Arial" pitchFamily="34" charset="-120"/>
              </a:rPr>
              <a:t> only constrains the sum of all subcomponents</a:t>
            </a:r>
            <a:endParaRPr lang="en-US" sz="1350" dirty="0"/>
          </a:p>
          <a:p>
            <a:pPr marL="285750" indent="-285750">
              <a:spcAft>
                <a:spcPts val="800"/>
              </a:spcAft>
              <a:buSzPct val="100000"/>
              <a:buFont typeface="Arial" panose="020B0604020202020204" pitchFamily="34" charset="0"/>
              <a:buChar char="•"/>
            </a:pPr>
            <a:r>
              <a:rPr lang="en-US" sz="1200" b="1" dirty="0">
                <a:solidFill>
                  <a:srgbClr val="E8ECF4"/>
                </a:solidFill>
                <a:latin typeface="Arial"/>
              </a:rPr>
              <a:t>Stochastic reconstruction:</a:t>
            </a:r>
            <a:r>
              <a:rPr lang="en-US" sz="1350" dirty="0">
                <a:solidFill>
                  <a:srgbClr val="8A93A8"/>
                </a:solidFill>
                <a:latin typeface="Arial" pitchFamily="34" charset="0"/>
                <a:ea typeface="Arial" pitchFamily="34" charset="-122"/>
                <a:cs typeface="Arial" pitchFamily="34" charset="-120"/>
              </a:rPr>
              <a:t> only constrains the model's output </a:t>
            </a:r>
          </a:p>
          <a:p>
            <a:pPr marL="285750" indent="-285750">
              <a:spcAft>
                <a:spcPts val="800"/>
              </a:spcAft>
              <a:buSzPct val="100000"/>
              <a:buFont typeface="Arial" panose="020B0604020202020204" pitchFamily="34" charset="0"/>
              <a:buChar char="•"/>
            </a:pPr>
            <a:r>
              <a:rPr lang="en-US" sz="1200" b="1" dirty="0">
                <a:solidFill>
                  <a:srgbClr val="E8ECF4"/>
                </a:solidFill>
                <a:latin typeface="Arial"/>
              </a:rPr>
              <a:t>Minimality:</a:t>
            </a:r>
            <a:r>
              <a:rPr lang="en-US" sz="1350" dirty="0">
                <a:solidFill>
                  <a:srgbClr val="8A93A8"/>
                </a:solidFill>
                <a:latin typeface="Arial" pitchFamily="34" charset="0"/>
                <a:ea typeface="Arial" pitchFamily="34" charset="-122"/>
                <a:cs typeface="Arial" pitchFamily="34" charset="-120"/>
              </a:rPr>
              <a:t> two subcomponents at 0.5 causal importance is equivalent to one at 1.0</a:t>
            </a:r>
          </a:p>
          <a:p>
            <a:pPr>
              <a:spcAft>
                <a:spcPts val="800"/>
              </a:spcAft>
              <a:buSzPct val="100000"/>
            </a:pPr>
            <a:r>
              <a:rPr lang="en-US" sz="1400" b="1" dirty="0">
                <a:solidFill>
                  <a:srgbClr val="E8ECF4"/>
                </a:solidFill>
                <a:latin typeface="Arial" pitchFamily="34" charset="0"/>
                <a:ea typeface="Arial" pitchFamily="34" charset="-122"/>
                <a:cs typeface="Arial" pitchFamily="34" charset="-120"/>
              </a:rPr>
              <a:t>For example: </a:t>
            </a:r>
            <a:r>
              <a:rPr lang="en-US" sz="1400" dirty="0">
                <a:solidFill>
                  <a:srgbClr val="8A93A8"/>
                </a:solidFill>
                <a:latin typeface="Arial" pitchFamily="34" charset="0"/>
                <a:ea typeface="Arial" pitchFamily="34" charset="-122"/>
                <a:cs typeface="Arial" pitchFamily="34" charset="-120"/>
              </a:rPr>
              <a:t>Two concepts with disjoint support</a:t>
            </a:r>
          </a:p>
        </p:txBody>
      </p:sp>
      <p:pic>
        <p:nvPicPr>
          <p:cNvPr id="7" name="Image 0" descr="/home/claude/fig_rankk.png"/>
          <p:cNvPicPr>
            <a:picLocks noChangeAspect="1"/>
          </p:cNvPicPr>
          <p:nvPr/>
        </p:nvPicPr>
        <p:blipFill>
          <a:blip r:embed="rId3"/>
          <a:stretch>
            <a:fillRect/>
          </a:stretch>
        </p:blipFill>
        <p:spPr>
          <a:xfrm>
            <a:off x="4663440" y="905256"/>
            <a:ext cx="3840480" cy="3765176"/>
          </a:xfrm>
          <a:prstGeom prst="rect">
            <a:avLst/>
          </a:prstGeom>
        </p:spPr>
      </p:pic>
      <p:pic>
        <p:nvPicPr>
          <p:cNvPr id="13" name="Picture 12">
            <a:extLst>
              <a:ext uri="{FF2B5EF4-FFF2-40B4-BE49-F238E27FC236}">
                <a16:creationId xmlns:a16="http://schemas.microsoft.com/office/drawing/2014/main" id="{2CBAD5F9-E3FD-6C1F-70FA-FC3322F73E66}"/>
              </a:ext>
            </a:extLst>
          </p:cNvPr>
          <p:cNvPicPr>
            <a:picLocks noChangeAspect="1"/>
          </p:cNvPicPr>
          <p:nvPr/>
        </p:nvPicPr>
        <p:blipFill>
          <a:blip r:embed="rId4"/>
          <a:stretch>
            <a:fillRect/>
          </a:stretch>
        </p:blipFill>
        <p:spPr>
          <a:xfrm>
            <a:off x="7314121" y="2790836"/>
            <a:ext cx="806491" cy="311166"/>
          </a:xfrm>
          <a:prstGeom prst="rect">
            <a:avLst/>
          </a:prstGeom>
        </p:spPr>
      </p:pic>
      <p:pic>
        <p:nvPicPr>
          <p:cNvPr id="15" name="Picture 14">
            <a:extLst>
              <a:ext uri="{FF2B5EF4-FFF2-40B4-BE49-F238E27FC236}">
                <a16:creationId xmlns:a16="http://schemas.microsoft.com/office/drawing/2014/main" id="{E7DB862B-9D55-7BFA-13D8-04D9FCF38401}"/>
              </a:ext>
            </a:extLst>
          </p:cNvPr>
          <p:cNvPicPr>
            <a:picLocks noChangeAspect="1"/>
          </p:cNvPicPr>
          <p:nvPr/>
        </p:nvPicPr>
        <p:blipFill>
          <a:blip r:embed="rId5"/>
          <a:stretch>
            <a:fillRect/>
          </a:stretch>
        </p:blipFill>
        <p:spPr>
          <a:xfrm>
            <a:off x="5629260" y="3255810"/>
            <a:ext cx="149240" cy="378840"/>
          </a:xfrm>
          <a:prstGeom prst="rect">
            <a:avLst/>
          </a:prstGeom>
        </p:spPr>
      </p:pic>
      <p:pic>
        <p:nvPicPr>
          <p:cNvPr id="17" name="Picture 16">
            <a:extLst>
              <a:ext uri="{FF2B5EF4-FFF2-40B4-BE49-F238E27FC236}">
                <a16:creationId xmlns:a16="http://schemas.microsoft.com/office/drawing/2014/main" id="{11BDF555-85D9-025D-6578-C7871D7D2698}"/>
              </a:ext>
            </a:extLst>
          </p:cNvPr>
          <p:cNvPicPr>
            <a:picLocks noChangeAspect="1"/>
          </p:cNvPicPr>
          <p:nvPr/>
        </p:nvPicPr>
        <p:blipFill>
          <a:blip r:embed="rId6"/>
          <a:stretch>
            <a:fillRect/>
          </a:stretch>
        </p:blipFill>
        <p:spPr>
          <a:xfrm>
            <a:off x="5287899" y="3148682"/>
            <a:ext cx="831962" cy="8487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0141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475488"/>
          </a:xfrm>
          <a:prstGeom prst="rect">
            <a:avLst/>
          </a:prstGeom>
          <a:noFill/>
          <a:ln/>
        </p:spPr>
        <p:txBody>
          <a:bodyPr wrap="square" lIns="0" tIns="0" rIns="0" bIns="0" rtlCol="0" anchor="ctr"/>
          <a:lstStyle/>
          <a:p>
            <a:pPr marL="0" indent="0" algn="l">
              <a:buNone/>
            </a:pPr>
            <a:r>
              <a:rPr lang="en-US" sz="2600" b="1" dirty="0">
                <a:solidFill>
                  <a:srgbClr val="E8ECF4"/>
                </a:solidFill>
                <a:latin typeface="Arial" pitchFamily="34" charset="0"/>
                <a:ea typeface="Arial" pitchFamily="34" charset="-122"/>
                <a:cs typeface="Arial" pitchFamily="34" charset="-120"/>
              </a:rPr>
              <a:t>Adding structural pressure: softmax routing</a:t>
            </a:r>
            <a:endParaRPr lang="en-US" sz="2600" dirty="0"/>
          </a:p>
        </p:txBody>
      </p:sp>
      <p:sp>
        <p:nvSpPr>
          <p:cNvPr id="3" name="Text 1"/>
          <p:cNvSpPr/>
          <p:nvPr/>
        </p:nvSpPr>
        <p:spPr>
          <a:xfrm>
            <a:off x="457200" y="768096"/>
            <a:ext cx="8229600" cy="274320"/>
          </a:xfrm>
          <a:prstGeom prst="rect">
            <a:avLst/>
          </a:prstGeom>
          <a:noFill/>
          <a:ln/>
        </p:spPr>
        <p:txBody>
          <a:bodyPr wrap="square" lIns="0" tIns="0" rIns="0" bIns="0" rtlCol="0" anchor="ctr"/>
          <a:lstStyle/>
          <a:p>
            <a:pPr marL="0" indent="0" algn="l">
              <a:buNone/>
            </a:pPr>
            <a:r>
              <a:rPr lang="en-US" sz="1300" dirty="0">
                <a:solidFill>
                  <a:srgbClr val="8A93A8"/>
                </a:solidFill>
                <a:latin typeface="Arial" pitchFamily="34" charset="0"/>
                <a:ea typeface="Arial" pitchFamily="34" charset="-122"/>
                <a:cs typeface="Arial" pitchFamily="34" charset="-120"/>
              </a:rPr>
              <a:t>From independent gates to relational ownership</a:t>
            </a:r>
            <a:endParaRPr lang="en-US" sz="1300" dirty="0"/>
          </a:p>
        </p:txBody>
      </p:sp>
      <p:sp>
        <p:nvSpPr>
          <p:cNvPr id="6" name="Text 4"/>
          <p:cNvSpPr/>
          <p:nvPr/>
        </p:nvSpPr>
        <p:spPr>
          <a:xfrm>
            <a:off x="4709160" y="1188720"/>
            <a:ext cx="3977640" cy="1783080"/>
          </a:xfrm>
          <a:prstGeom prst="rect">
            <a:avLst/>
          </a:prstGeom>
          <a:solidFill>
            <a:srgbClr val="141A29"/>
          </a:solidFill>
          <a:ln w="12700">
            <a:solidFill>
              <a:srgbClr val="5B8DEF"/>
            </a:solidFill>
            <a:prstDash val="dash"/>
          </a:ln>
        </p:spPr>
        <p:txBody>
          <a:bodyPr wrap="square" lIns="1016" tIns="1016" rIns="1016" bIns="1016" rtlCol="0" anchor="ctr"/>
          <a:lstStyle/>
          <a:p>
            <a:pPr marL="0" indent="0" algn="ctr">
              <a:buNone/>
            </a:pPr>
            <a:r>
              <a:rPr lang="en-US" sz="1200" dirty="0">
                <a:solidFill>
                  <a:srgbClr val="8A93A8"/>
                </a:solidFill>
                <a:latin typeface="Arial" pitchFamily="34" charset="0"/>
                <a:ea typeface="Arial" pitchFamily="34" charset="-122"/>
                <a:cs typeface="Arial" pitchFamily="34" charset="-120"/>
              </a:rPr>
              <a:t>Placeholder: routing matrix figure</a:t>
            </a:r>
            <a:endParaRPr lang="en-US" sz="1200" dirty="0"/>
          </a:p>
          <a:p>
            <a:pPr marL="0" indent="0" algn="ctr">
              <a:buNone/>
            </a:pPr>
            <a:r>
              <a:rPr lang="en-US" sz="1200" dirty="0">
                <a:solidFill>
                  <a:srgbClr val="8A93A8"/>
                </a:solidFill>
                <a:latin typeface="Arial" pitchFamily="34" charset="0"/>
                <a:ea typeface="Arial" pitchFamily="34" charset="-122"/>
                <a:cs typeface="Arial" pitchFamily="34" charset="-120"/>
              </a:rPr>
              <a:t>(drop your image here)</a:t>
            </a:r>
            <a:endParaRPr lang="en-US" sz="1200" dirty="0"/>
          </a:p>
        </p:txBody>
      </p:sp>
      <p:sp>
        <p:nvSpPr>
          <p:cNvPr id="7" name="Text 5"/>
          <p:cNvSpPr/>
          <p:nvPr/>
        </p:nvSpPr>
        <p:spPr>
          <a:xfrm>
            <a:off x="4709160" y="3127248"/>
            <a:ext cx="3977640" cy="1783080"/>
          </a:xfrm>
          <a:prstGeom prst="rect">
            <a:avLst/>
          </a:prstGeom>
          <a:solidFill>
            <a:srgbClr val="141A29"/>
          </a:solidFill>
          <a:ln w="12700">
            <a:solidFill>
              <a:srgbClr val="5B8DEF"/>
            </a:solidFill>
            <a:prstDash val="dash"/>
          </a:ln>
        </p:spPr>
        <p:txBody>
          <a:bodyPr wrap="square" lIns="1016" tIns="1016" rIns="1016" bIns="1016" rtlCol="0" anchor="ctr"/>
          <a:lstStyle/>
          <a:p>
            <a:pPr marL="0" indent="0" algn="ctr">
              <a:buNone/>
            </a:pPr>
            <a:r>
              <a:rPr lang="en-US" sz="1200" dirty="0">
                <a:solidFill>
                  <a:srgbClr val="8A93A8"/>
                </a:solidFill>
                <a:latin typeface="Arial" pitchFamily="34" charset="0"/>
                <a:ea typeface="Arial" pitchFamily="34" charset="-122"/>
                <a:cs typeface="Arial" pitchFamily="34" charset="-120"/>
              </a:rPr>
              <a:t>Placeholder: importance values figure</a:t>
            </a:r>
            <a:endParaRPr lang="en-US" sz="1200" dirty="0"/>
          </a:p>
          <a:p>
            <a:pPr marL="0" indent="0" algn="ctr">
              <a:buNone/>
            </a:pPr>
            <a:r>
              <a:rPr lang="en-US" sz="1200" dirty="0">
                <a:solidFill>
                  <a:srgbClr val="8A93A8"/>
                </a:solidFill>
                <a:latin typeface="Arial" pitchFamily="34" charset="0"/>
                <a:ea typeface="Arial" pitchFamily="34" charset="-122"/>
                <a:cs typeface="Arial" pitchFamily="34" charset="-120"/>
              </a:rPr>
              <a:t>(drop your image here)</a:t>
            </a:r>
            <a:endParaRPr lang="en-US" sz="1200" dirty="0"/>
          </a:p>
        </p:txBody>
      </p:sp>
      <mc:AlternateContent xmlns:mc="http://schemas.openxmlformats.org/markup-compatibility/2006" xmlns:a14="http://schemas.microsoft.com/office/drawing/2010/main">
        <mc:Choice Requires="a14">
          <p:sp>
            <p:nvSpPr>
              <p:cNvPr id="12" name="TextBox 11"/>
              <p:cNvSpPr txBox="1"/>
              <p:nvPr/>
            </p:nvSpPr>
            <p:spPr>
              <a:xfrm>
                <a:off x="457200" y="1325880"/>
                <a:ext cx="3977640" cy="2517549"/>
              </a:xfrm>
              <a:prstGeom prst="rect">
                <a:avLst/>
              </a:prstGeom>
              <a:noFill/>
            </p:spPr>
            <p:txBody>
              <a:bodyPr wrap="square" lIns="0" tIns="0" rIns="0" bIns="0">
                <a:spAutoFit/>
              </a:bodyPr>
              <a:lstStyle/>
              <a:p>
                <a:pPr>
                  <a:lnSpc>
                    <a:spcPct val="112000"/>
                  </a:lnSpc>
                  <a:spcAft>
                    <a:spcPts val="800"/>
                  </a:spcAft>
                </a:pPr>
                <a:r>
                  <a:rPr lang="en-US" sz="1350" b="1" dirty="0">
                    <a:solidFill>
                      <a:srgbClr val="E8ECF4"/>
                    </a:solidFill>
                    <a:latin typeface="Arial"/>
                  </a:rPr>
                  <a:t>Sigmoid:</a:t>
                </a:r>
                <a:r>
                  <a:rPr lang="en-US" sz="1350" b="0" dirty="0">
                    <a:solidFill>
                      <a:srgbClr val="8A93A8"/>
                    </a:solidFill>
                    <a:latin typeface="Arial"/>
                  </a:rPr>
                  <a:t> each gate </a:t>
                </a:r>
                <a:r>
                  <a:rPr lang="en-US" sz="1350" b="0" dirty="0" err="1">
                    <a:solidFill>
                      <a:srgbClr val="8A93A8"/>
                    </a:solidFill>
                    <a:latin typeface="Arial"/>
                  </a:rPr>
                  <a:t>g</a:t>
                </a:r>
                <a:r>
                  <a:rPr lang="en-US" sz="1350" b="0" baseline="-25000" dirty="0" err="1">
                    <a:solidFill>
                      <a:srgbClr val="8A93A8"/>
                    </a:solidFill>
                    <a:latin typeface="Arial"/>
                  </a:rPr>
                  <a:t>c</a:t>
                </a:r>
                <a:r>
                  <a:rPr lang="en-US" sz="1350" b="0" dirty="0">
                    <a:solidFill>
                      <a:srgbClr val="8A93A8"/>
                    </a:solidFill>
                    <a:latin typeface="Arial"/>
                  </a:rPr>
                  <a:t>(x) ∈ [0,1] is judged alone; </a:t>
                </a:r>
                <a:r>
                  <a:rPr lang="en-US" sz="1350" dirty="0">
                    <a:solidFill>
                      <a:srgbClr val="8A93A8"/>
                    </a:solidFill>
                    <a:latin typeface="Arial"/>
                  </a:rPr>
                  <a:t>five</a:t>
                </a:r>
                <a:r>
                  <a:rPr lang="en-US" sz="1350" b="0" dirty="0">
                    <a:solidFill>
                      <a:srgbClr val="8A93A8"/>
                    </a:solidFill>
                    <a:latin typeface="Arial"/>
                  </a:rPr>
                  <a:t> subcomponents can all be 'causally important' at once.</a:t>
                </a:r>
              </a:p>
              <a:p>
                <a:pPr>
                  <a:lnSpc>
                    <a:spcPct val="112000"/>
                  </a:lnSpc>
                  <a:spcAft>
                    <a:spcPts val="800"/>
                  </a:spcAft>
                </a:pPr>
                <a:r>
                  <a:rPr lang="en-US" sz="1350" b="1" dirty="0" err="1">
                    <a:solidFill>
                      <a:srgbClr val="E8ECF4"/>
                    </a:solidFill>
                    <a:latin typeface="Arial"/>
                  </a:rPr>
                  <a:t>Softmax</a:t>
                </a:r>
                <a:r>
                  <a:rPr lang="en-US" sz="1350" b="1" dirty="0">
                    <a:solidFill>
                      <a:srgbClr val="E8ECF4"/>
                    </a:solidFill>
                    <a:latin typeface="Arial"/>
                  </a:rPr>
                  <a:t>:</a:t>
                </a:r>
                <a:r>
                  <a:rPr lang="en-US" sz="1350" b="0" dirty="0">
                    <a:solidFill>
                      <a:srgbClr val="8A93A8"/>
                    </a:solidFill>
                    <a:latin typeface="Arial"/>
                  </a:rPr>
                  <a:t> importances compete and sum to 1, so </a:t>
                </a:r>
                <a:r>
                  <a:rPr lang="en-US" sz="1350" b="0" dirty="0" err="1">
                    <a:solidFill>
                      <a:srgbClr val="8A93A8"/>
                    </a:solidFill>
                    <a:latin typeface="Arial"/>
                  </a:rPr>
                  <a:t>g</a:t>
                </a:r>
                <a:r>
                  <a:rPr lang="en-US" sz="1350" b="0" baseline="-25000" dirty="0" err="1">
                    <a:solidFill>
                      <a:srgbClr val="8A93A8"/>
                    </a:solidFill>
                    <a:latin typeface="Arial"/>
                  </a:rPr>
                  <a:t>c</a:t>
                </a:r>
                <a:r>
                  <a:rPr lang="en-US" sz="1350" b="0" dirty="0">
                    <a:solidFill>
                      <a:srgbClr val="8A93A8"/>
                    </a:solidFill>
                    <a:latin typeface="Arial"/>
                  </a:rPr>
                  <a:t>(x) </a:t>
                </a:r>
                <a:r>
                  <a:rPr lang="en-US" sz="1350" dirty="0">
                    <a:solidFill>
                      <a:srgbClr val="8A93A8"/>
                    </a:solidFill>
                    <a:latin typeface="Arial"/>
                  </a:rPr>
                  <a:t>could read</a:t>
                </a:r>
                <a:r>
                  <a:rPr lang="en-US" sz="1350" b="0" dirty="0">
                    <a:solidFill>
                      <a:srgbClr val="8A93A8"/>
                    </a:solidFill>
                    <a:latin typeface="Arial"/>
                  </a:rPr>
                  <a:t> as a subcomponent's percentual ownership of the feature.</a:t>
                </a:r>
              </a:p>
              <a:p>
                <a:pPr>
                  <a:lnSpc>
                    <a:spcPct val="112000"/>
                  </a:lnSpc>
                  <a:spcAft>
                    <a:spcPts val="800"/>
                  </a:spcAft>
                </a:pPr>
                <a:r>
                  <a:rPr lang="en-US" sz="1350" b="1" dirty="0">
                    <a:solidFill>
                      <a:srgbClr val="E8ECF4"/>
                    </a:solidFill>
                    <a:latin typeface="Arial"/>
                  </a:rPr>
                  <a:t>Architecture:</a:t>
                </a:r>
                <a:r>
                  <a:rPr lang="en-US" sz="1350" b="0" dirty="0">
                    <a:solidFill>
                      <a:srgbClr val="8A93A8"/>
                    </a:solidFill>
                    <a:latin typeface="Arial"/>
                  </a:rPr>
                  <a:t> th</a:t>
                </a:r>
                <a:r>
                  <a:rPr lang="en-US" sz="1350" dirty="0">
                    <a:solidFill>
                      <a:srgbClr val="8A93A8"/>
                    </a:solidFill>
                    <a:latin typeface="Arial"/>
                  </a:rPr>
                  <a:t>e inner activation </a:t>
                </a:r>
                <a14:m>
                  <m:oMath xmlns:m="http://schemas.openxmlformats.org/officeDocument/2006/math">
                    <m:sSubSup>
                      <m:sSubSupPr>
                        <m:ctrlPr>
                          <a:rPr lang="da-DK" sz="1350" b="0" i="1" smtClean="0">
                            <a:solidFill>
                              <a:srgbClr val="8A93A8"/>
                            </a:solidFill>
                            <a:latin typeface="Cambria Math" panose="02040503050406030204" pitchFamily="18" charset="0"/>
                          </a:rPr>
                        </m:ctrlPr>
                      </m:sSubSupPr>
                      <m:e>
                        <m:r>
                          <a:rPr lang="da-DK" sz="1350" b="0" i="1" smtClean="0">
                            <a:solidFill>
                              <a:srgbClr val="8A93A8"/>
                            </a:solidFill>
                            <a:latin typeface="Cambria Math" panose="02040503050406030204" pitchFamily="18" charset="0"/>
                          </a:rPr>
                          <m:t>𝑉</m:t>
                        </m:r>
                      </m:e>
                      <m:sub>
                        <m:r>
                          <a:rPr lang="da-DK" sz="1350" b="0" i="1" smtClean="0">
                            <a:solidFill>
                              <a:srgbClr val="8A93A8"/>
                            </a:solidFill>
                            <a:latin typeface="Cambria Math" panose="02040503050406030204" pitchFamily="18" charset="0"/>
                          </a:rPr>
                          <m:t>𝑐</m:t>
                        </m:r>
                      </m:sub>
                      <m:sup>
                        <m:r>
                          <a:rPr lang="da-DK" sz="1350" b="0" i="1" smtClean="0">
                            <a:solidFill>
                              <a:srgbClr val="8A93A8"/>
                            </a:solidFill>
                            <a:latin typeface="Cambria Math" panose="02040503050406030204" pitchFamily="18" charset="0"/>
                          </a:rPr>
                          <m:t>𝑙𝑇</m:t>
                        </m:r>
                      </m:sup>
                    </m:sSubSup>
                    <m:sSup>
                      <m:sSupPr>
                        <m:ctrlPr>
                          <a:rPr lang="da-DK" sz="1350" b="0" i="1" smtClean="0">
                            <a:solidFill>
                              <a:srgbClr val="8A93A8"/>
                            </a:solidFill>
                            <a:latin typeface="Cambria Math" panose="02040503050406030204" pitchFamily="18" charset="0"/>
                          </a:rPr>
                        </m:ctrlPr>
                      </m:sSupPr>
                      <m:e>
                        <m:r>
                          <a:rPr lang="da-DK" sz="1350" b="0" i="1" smtClean="0">
                            <a:solidFill>
                              <a:srgbClr val="8A93A8"/>
                            </a:solidFill>
                            <a:latin typeface="Cambria Math" panose="02040503050406030204" pitchFamily="18" charset="0"/>
                          </a:rPr>
                          <m:t>𝛼</m:t>
                        </m:r>
                      </m:e>
                      <m:sup>
                        <m:r>
                          <a:rPr lang="da-DK" sz="1350" b="0" i="1" smtClean="0">
                            <a:solidFill>
                              <a:srgbClr val="8A93A8"/>
                            </a:solidFill>
                            <a:latin typeface="Cambria Math" panose="02040503050406030204" pitchFamily="18" charset="0"/>
                          </a:rPr>
                          <m:t>𝑙</m:t>
                        </m:r>
                      </m:sup>
                    </m:sSup>
                    <m:d>
                      <m:dPr>
                        <m:ctrlPr>
                          <a:rPr lang="da-DK" sz="1350" b="0" i="1" smtClean="0">
                            <a:solidFill>
                              <a:srgbClr val="8A93A8"/>
                            </a:solidFill>
                            <a:latin typeface="Cambria Math" panose="02040503050406030204" pitchFamily="18" charset="0"/>
                          </a:rPr>
                        </m:ctrlPr>
                      </m:dPr>
                      <m:e>
                        <m:r>
                          <a:rPr lang="da-DK" sz="1350" b="0" i="1" smtClean="0">
                            <a:solidFill>
                              <a:srgbClr val="8A93A8"/>
                            </a:solidFill>
                            <a:latin typeface="Cambria Math" panose="02040503050406030204" pitchFamily="18" charset="0"/>
                          </a:rPr>
                          <m:t>𝑥</m:t>
                        </m:r>
                      </m:e>
                    </m:d>
                    <m:r>
                      <a:rPr lang="da-DK" sz="1350" b="0" i="1" smtClean="0">
                        <a:solidFill>
                          <a:srgbClr val="8A93A8"/>
                        </a:solidFill>
                        <a:latin typeface="Cambria Math" panose="02040503050406030204" pitchFamily="18" charset="0"/>
                      </a:rPr>
                      <m:t>∈</m:t>
                    </m:r>
                    <m:sSup>
                      <m:sSupPr>
                        <m:ctrlPr>
                          <a:rPr lang="da-DK" sz="1350" b="0" i="1" smtClean="0">
                            <a:solidFill>
                              <a:srgbClr val="8A93A8"/>
                            </a:solidFill>
                            <a:latin typeface="Cambria Math" panose="02040503050406030204" pitchFamily="18" charset="0"/>
                          </a:rPr>
                        </m:ctrlPr>
                      </m:sSupPr>
                      <m:e>
                        <m:r>
                          <a:rPr lang="da-DK" sz="1350" b="0" i="1" smtClean="0">
                            <a:solidFill>
                              <a:srgbClr val="8A93A8"/>
                            </a:solidFill>
                            <a:latin typeface="Cambria Math" panose="02040503050406030204" pitchFamily="18" charset="0"/>
                          </a:rPr>
                          <m:t>𝑅</m:t>
                        </m:r>
                      </m:e>
                      <m:sup>
                        <m:r>
                          <a:rPr lang="da-DK" sz="1350" b="0" i="1" smtClean="0">
                            <a:solidFill>
                              <a:srgbClr val="8A93A8"/>
                            </a:solidFill>
                            <a:latin typeface="Cambria Math" panose="02040503050406030204" pitchFamily="18" charset="0"/>
                          </a:rPr>
                          <m:t>𝐶</m:t>
                        </m:r>
                        <m:r>
                          <a:rPr lang="da-DK" sz="1350" b="0" i="1" smtClean="0">
                            <a:solidFill>
                              <a:srgbClr val="8A93A8"/>
                            </a:solidFill>
                            <a:latin typeface="Cambria Math" panose="02040503050406030204" pitchFamily="18" charset="0"/>
                          </a:rPr>
                          <m:t>× </m:t>
                        </m:r>
                        <m:r>
                          <a:rPr lang="da-DK" sz="1350" b="0" i="1" smtClean="0">
                            <a:solidFill>
                              <a:srgbClr val="8A93A8"/>
                            </a:solidFill>
                            <a:latin typeface="Cambria Math" panose="02040503050406030204" pitchFamily="18" charset="0"/>
                          </a:rPr>
                          <m:t>𝑘</m:t>
                        </m:r>
                      </m:sup>
                    </m:sSup>
                  </m:oMath>
                </a14:m>
                <a:r>
                  <a:rPr lang="en-US" sz="1350" b="0" dirty="0">
                    <a:solidFill>
                      <a:srgbClr val="8A93A8"/>
                    </a:solidFill>
                    <a:latin typeface="Arial"/>
                  </a:rPr>
                  <a:t> are passed through a small transformer attending across subcomponents followed by a </a:t>
                </a:r>
                <a:r>
                  <a:rPr lang="en-US" sz="1350" b="0" dirty="0" err="1">
                    <a:solidFill>
                      <a:srgbClr val="8A93A8"/>
                    </a:solidFill>
                    <a:latin typeface="Arial"/>
                  </a:rPr>
                  <a:t>softmax</a:t>
                </a:r>
                <a:r>
                  <a:rPr lang="en-US" sz="1350" b="0" dirty="0">
                    <a:solidFill>
                      <a:srgbClr val="8A93A8"/>
                    </a:solidFill>
                    <a:latin typeface="Arial"/>
                  </a:rPr>
                  <a:t> over C.</a:t>
                </a:r>
              </a:p>
            </p:txBody>
          </p:sp>
        </mc:Choice>
        <mc:Fallback xmlns="">
          <p:sp>
            <p:nvSpPr>
              <p:cNvPr id="12" name="TextBox 11"/>
              <p:cNvSpPr txBox="1">
                <a:spLocks noRot="1" noChangeAspect="1" noMove="1" noResize="1" noEditPoints="1" noAdjustHandles="1" noChangeArrowheads="1" noChangeShapeType="1" noTextEdit="1"/>
              </p:cNvSpPr>
              <p:nvPr/>
            </p:nvSpPr>
            <p:spPr>
              <a:xfrm>
                <a:off x="457200" y="1325880"/>
                <a:ext cx="3977640" cy="2517549"/>
              </a:xfrm>
              <a:prstGeom prst="rect">
                <a:avLst/>
              </a:prstGeom>
              <a:blipFill>
                <a:blip r:embed="rId3"/>
                <a:stretch>
                  <a:fillRect l="-2603" t="-2184" r="-613" b="-3641"/>
                </a:stretch>
              </a:blipFill>
            </p:spPr>
            <p:txBody>
              <a:bodyPr/>
              <a:lstStyle/>
              <a:p>
                <a:r>
                  <a:rPr lang="da-DK">
                    <a:noFill/>
                  </a:rPr>
                  <a:t> </a:t>
                </a:r>
              </a:p>
            </p:txBody>
          </p:sp>
        </mc:Fallback>
      </mc:AlternateContent>
      <p:pic>
        <p:nvPicPr>
          <p:cNvPr id="13" name="Picture 12" descr="fig_router.png"/>
          <p:cNvPicPr>
            <a:picLocks noChangeAspect="1"/>
          </p:cNvPicPr>
          <p:nvPr/>
        </p:nvPicPr>
        <p:blipFill>
          <a:blip r:embed="rId4"/>
          <a:stretch>
            <a:fillRect/>
          </a:stretch>
        </p:blipFill>
        <p:spPr>
          <a:xfrm>
            <a:off x="4602480" y="869447"/>
            <a:ext cx="4191000" cy="4040881"/>
          </a:xfrm>
          <a:prstGeom prst="rect">
            <a:avLst/>
          </a:prstGeom>
        </p:spPr>
      </p:pic>
      <p:pic>
        <p:nvPicPr>
          <p:cNvPr id="5" name="Picture 4">
            <a:extLst>
              <a:ext uri="{FF2B5EF4-FFF2-40B4-BE49-F238E27FC236}">
                <a16:creationId xmlns:a16="http://schemas.microsoft.com/office/drawing/2014/main" id="{C8BD2D1E-9D81-D374-04D0-0EA702EE6BE1}"/>
              </a:ext>
            </a:extLst>
          </p:cNvPr>
          <p:cNvPicPr>
            <a:picLocks noChangeAspect="1"/>
          </p:cNvPicPr>
          <p:nvPr/>
        </p:nvPicPr>
        <p:blipFill>
          <a:blip r:embed="rId5"/>
          <a:stretch>
            <a:fillRect/>
          </a:stretch>
        </p:blipFill>
        <p:spPr>
          <a:xfrm>
            <a:off x="4790237" y="4375404"/>
            <a:ext cx="3949903" cy="590580"/>
          </a:xfrm>
          <a:prstGeom prst="rect">
            <a:avLst/>
          </a:prstGeom>
        </p:spPr>
      </p:pic>
      <p:pic>
        <p:nvPicPr>
          <p:cNvPr id="9" name="Picture 8">
            <a:extLst>
              <a:ext uri="{FF2B5EF4-FFF2-40B4-BE49-F238E27FC236}">
                <a16:creationId xmlns:a16="http://schemas.microsoft.com/office/drawing/2014/main" id="{1542D2F5-CBBD-BE06-DB72-92653E6A2553}"/>
              </a:ext>
            </a:extLst>
          </p:cNvPr>
          <p:cNvPicPr>
            <a:picLocks noChangeAspect="1"/>
          </p:cNvPicPr>
          <p:nvPr/>
        </p:nvPicPr>
        <p:blipFill>
          <a:blip r:embed="rId5"/>
          <a:stretch>
            <a:fillRect/>
          </a:stretch>
        </p:blipFill>
        <p:spPr>
          <a:xfrm>
            <a:off x="1720748" y="4466052"/>
            <a:ext cx="3949903" cy="5905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0141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475488"/>
          </a:xfrm>
          <a:prstGeom prst="rect">
            <a:avLst/>
          </a:prstGeom>
          <a:noFill/>
          <a:ln/>
        </p:spPr>
        <p:txBody>
          <a:bodyPr wrap="square" lIns="0" tIns="0" rIns="0" bIns="0" rtlCol="0" anchor="ctr"/>
          <a:lstStyle/>
          <a:p>
            <a:pPr marL="0" indent="0" algn="l">
              <a:buNone/>
            </a:pPr>
            <a:r>
              <a:rPr lang="en-US" sz="2600" b="1" dirty="0" err="1">
                <a:solidFill>
                  <a:srgbClr val="E8ECF4"/>
                </a:solidFill>
                <a:latin typeface="Arial" pitchFamily="34" charset="0"/>
                <a:cs typeface="Arial" pitchFamily="34" charset="-120"/>
              </a:rPr>
              <a:t>Softmax</a:t>
            </a:r>
            <a:r>
              <a:rPr lang="en-US" sz="2600" b="1" dirty="0">
                <a:solidFill>
                  <a:srgbClr val="E8ECF4"/>
                </a:solidFill>
                <a:latin typeface="Arial" pitchFamily="34" charset="0"/>
                <a:cs typeface="Arial" pitchFamily="34" charset="-120"/>
              </a:rPr>
              <a:t> incompatible with SPD’s minimality loss</a:t>
            </a:r>
            <a:endParaRPr lang="en-US" sz="2600" dirty="0"/>
          </a:p>
        </p:txBody>
      </p:sp>
      <p:sp>
        <p:nvSpPr>
          <p:cNvPr id="3" name="Text 1"/>
          <p:cNvSpPr/>
          <p:nvPr/>
        </p:nvSpPr>
        <p:spPr>
          <a:xfrm>
            <a:off x="457200" y="768096"/>
            <a:ext cx="8229600" cy="274320"/>
          </a:xfrm>
          <a:prstGeom prst="rect">
            <a:avLst/>
          </a:prstGeom>
          <a:noFill/>
          <a:ln/>
        </p:spPr>
        <p:txBody>
          <a:bodyPr wrap="square" lIns="0" tIns="0" rIns="0" bIns="0" rtlCol="0" anchor="ctr"/>
          <a:lstStyle/>
          <a:p>
            <a:pPr marL="0" indent="0" algn="l">
              <a:buNone/>
            </a:pPr>
            <a:endParaRPr lang="en-US" sz="1300" dirty="0"/>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CE0EBC52-E494-7F6D-1187-6567BEC7FDDB}"/>
                  </a:ext>
                </a:extLst>
              </p14:cNvPr>
              <p14:cNvContentPartPr/>
              <p14:nvPr/>
            </p14:nvContentPartPr>
            <p14:xfrm>
              <a:off x="2624680" y="4114480"/>
              <a:ext cx="360" cy="360"/>
            </p14:xfrm>
          </p:contentPart>
        </mc:Choice>
        <mc:Fallback xmlns="">
          <p:pic>
            <p:nvPicPr>
              <p:cNvPr id="7" name="Ink 6">
                <a:extLst>
                  <a:ext uri="{FF2B5EF4-FFF2-40B4-BE49-F238E27FC236}">
                    <a16:creationId xmlns:a16="http://schemas.microsoft.com/office/drawing/2014/main" id="{CE0EBC52-E494-7F6D-1187-6567BEC7FDDB}"/>
                  </a:ext>
                </a:extLst>
              </p:cNvPr>
              <p:cNvPicPr/>
              <p:nvPr/>
            </p:nvPicPr>
            <p:blipFill>
              <a:blip r:embed="rId4"/>
              <a:stretch>
                <a:fillRect/>
              </a:stretch>
            </p:blipFill>
            <p:spPr>
              <a:xfrm>
                <a:off x="2616040" y="41058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67F52142-8DDC-13EA-FA7B-359D7112A5F3}"/>
                  </a:ext>
                </a:extLst>
              </p14:cNvPr>
              <p14:cNvContentPartPr/>
              <p14:nvPr/>
            </p14:nvContentPartPr>
            <p14:xfrm>
              <a:off x="2853280" y="2937640"/>
              <a:ext cx="360" cy="360"/>
            </p14:xfrm>
          </p:contentPart>
        </mc:Choice>
        <mc:Fallback xmlns="">
          <p:pic>
            <p:nvPicPr>
              <p:cNvPr id="8" name="Ink 7">
                <a:extLst>
                  <a:ext uri="{FF2B5EF4-FFF2-40B4-BE49-F238E27FC236}">
                    <a16:creationId xmlns:a16="http://schemas.microsoft.com/office/drawing/2014/main" id="{67F52142-8DDC-13EA-FA7B-359D7112A5F3}"/>
                  </a:ext>
                </a:extLst>
              </p:cNvPr>
              <p:cNvPicPr/>
              <p:nvPr/>
            </p:nvPicPr>
            <p:blipFill>
              <a:blip r:embed="rId4"/>
              <a:stretch>
                <a:fillRect/>
              </a:stretch>
            </p:blipFill>
            <p:spPr>
              <a:xfrm>
                <a:off x="2844280" y="2928640"/>
                <a:ext cx="18000" cy="18000"/>
              </a:xfrm>
              <a:prstGeom prst="rect">
                <a:avLst/>
              </a:prstGeom>
            </p:spPr>
          </p:pic>
        </mc:Fallback>
      </mc:AlternateContent>
      <p:sp>
        <p:nvSpPr>
          <p:cNvPr id="13" name="TextBox 12"/>
          <p:cNvSpPr txBox="1"/>
          <p:nvPr/>
        </p:nvSpPr>
        <p:spPr>
          <a:xfrm>
            <a:off x="457200" y="879345"/>
            <a:ext cx="8229600" cy="781368"/>
          </a:xfrm>
          <a:prstGeom prst="rect">
            <a:avLst/>
          </a:prstGeom>
          <a:noFill/>
        </p:spPr>
        <p:txBody>
          <a:bodyPr wrap="square" lIns="0" tIns="0" rIns="0" bIns="0">
            <a:spAutoFit/>
          </a:bodyPr>
          <a:lstStyle/>
          <a:p>
            <a:pPr>
              <a:lnSpc>
                <a:spcPct val="112000"/>
              </a:lnSpc>
              <a:spcAft>
                <a:spcPts val="600"/>
              </a:spcAft>
            </a:pPr>
            <a:r>
              <a:rPr lang="da-DK" sz="1400" b="1" dirty="0">
                <a:solidFill>
                  <a:srgbClr val="E8ECF4"/>
                </a:solidFill>
                <a:latin typeface="Arial"/>
              </a:rPr>
              <a:t>Minimality loss becomes degenerate: </a:t>
            </a:r>
            <a:r>
              <a:rPr sz="1400" b="0" dirty="0">
                <a:solidFill>
                  <a:srgbClr val="8A93A8"/>
                </a:solidFill>
                <a:latin typeface="Arial"/>
              </a:rPr>
              <a:t>Under </a:t>
            </a:r>
            <a:r>
              <a:rPr lang="da-DK" sz="1400" dirty="0">
                <a:solidFill>
                  <a:srgbClr val="8A93A8"/>
                </a:solidFill>
                <a:latin typeface="Arial"/>
              </a:rPr>
              <a:t>S</a:t>
            </a:r>
            <a:r>
              <a:rPr sz="1400" b="0" dirty="0" err="1">
                <a:solidFill>
                  <a:srgbClr val="8A93A8"/>
                </a:solidFill>
                <a:latin typeface="Arial"/>
              </a:rPr>
              <a:t>oftmax</a:t>
            </a:r>
            <a:r>
              <a:rPr sz="1400" b="0" dirty="0">
                <a:solidFill>
                  <a:srgbClr val="8A93A8"/>
                </a:solidFill>
                <a:latin typeface="Arial"/>
              </a:rPr>
              <a:t>, </a:t>
            </a:r>
            <a:r>
              <a:rPr sz="1400" b="0" dirty="0" err="1">
                <a:solidFill>
                  <a:srgbClr val="8A93A8"/>
                </a:solidFill>
                <a:latin typeface="Arial"/>
              </a:rPr>
              <a:t>Σ</a:t>
            </a:r>
            <a:r>
              <a:rPr sz="1400" b="0" baseline="-25000" dirty="0" err="1">
                <a:solidFill>
                  <a:srgbClr val="8A93A8"/>
                </a:solidFill>
                <a:latin typeface="Arial"/>
              </a:rPr>
              <a:t>c</a:t>
            </a:r>
            <a:r>
              <a:rPr sz="1400" b="0" dirty="0">
                <a:solidFill>
                  <a:srgbClr val="8A93A8"/>
                </a:solidFill>
                <a:latin typeface="Arial"/>
              </a:rPr>
              <a:t> </a:t>
            </a:r>
            <a:r>
              <a:rPr sz="1400" b="0" dirty="0" err="1">
                <a:solidFill>
                  <a:srgbClr val="8A93A8"/>
                </a:solidFill>
                <a:latin typeface="Arial"/>
              </a:rPr>
              <a:t>g</a:t>
            </a:r>
            <a:r>
              <a:rPr sz="1400" b="0" baseline="-25000" dirty="0" err="1">
                <a:solidFill>
                  <a:srgbClr val="8A93A8"/>
                </a:solidFill>
                <a:latin typeface="Arial"/>
              </a:rPr>
              <a:t>c</a:t>
            </a:r>
            <a:r>
              <a:rPr sz="1400" b="0" dirty="0">
                <a:solidFill>
                  <a:srgbClr val="8A93A8"/>
                </a:solidFill>
                <a:latin typeface="Arial"/>
              </a:rPr>
              <a:t>(x) = 1 by construction, so the original minimality loss is constant and can no longer prefer sparse solutions.</a:t>
            </a:r>
          </a:p>
          <a:p>
            <a:pPr>
              <a:lnSpc>
                <a:spcPct val="112000"/>
              </a:lnSpc>
              <a:spcAft>
                <a:spcPts val="600"/>
              </a:spcAft>
            </a:pPr>
            <a:r>
              <a:rPr lang="da-DK" sz="1400" b="1" dirty="0">
                <a:solidFill>
                  <a:srgbClr val="E8ECF4"/>
                </a:solidFill>
                <a:latin typeface="Arial"/>
              </a:rPr>
              <a:t>New loss term</a:t>
            </a:r>
            <a:r>
              <a:rPr sz="1400" b="1" dirty="0">
                <a:solidFill>
                  <a:srgbClr val="E8ECF4"/>
                </a:solidFill>
                <a:latin typeface="Arial"/>
              </a:rPr>
              <a:t>:</a:t>
            </a:r>
            <a:r>
              <a:rPr sz="1400" b="0" dirty="0">
                <a:solidFill>
                  <a:srgbClr val="8A93A8"/>
                </a:solidFill>
                <a:latin typeface="Arial"/>
              </a:rPr>
              <a:t> </a:t>
            </a:r>
            <a:r>
              <a:rPr lang="da-DK" sz="1400" dirty="0">
                <a:solidFill>
                  <a:srgbClr val="8A93A8"/>
                </a:solidFill>
                <a:latin typeface="Arial"/>
              </a:rPr>
              <a:t>Entropy </a:t>
            </a:r>
            <a:r>
              <a:rPr sz="1400" b="0" dirty="0">
                <a:solidFill>
                  <a:srgbClr val="8A93A8"/>
                </a:solidFill>
                <a:latin typeface="Arial"/>
              </a:rPr>
              <a:t>concentrates importance</a:t>
            </a:r>
            <a:r>
              <a:rPr lang="da-DK" sz="1400" dirty="0">
                <a:solidFill>
                  <a:srgbClr val="8A93A8"/>
                </a:solidFill>
                <a:latin typeface="Arial"/>
              </a:rPr>
              <a:t>,</a:t>
            </a:r>
            <a:r>
              <a:rPr sz="1400" b="0" dirty="0">
                <a:solidFill>
                  <a:srgbClr val="8A93A8"/>
                </a:solidFill>
                <a:latin typeface="Arial"/>
              </a:rPr>
              <a:t> shift</a:t>
            </a:r>
            <a:r>
              <a:rPr lang="da-DK" sz="1400" b="0" dirty="0">
                <a:solidFill>
                  <a:srgbClr val="8A93A8"/>
                </a:solidFill>
                <a:latin typeface="Arial"/>
              </a:rPr>
              <a:t>ing</a:t>
            </a:r>
            <a:r>
              <a:rPr sz="1400" b="0" dirty="0">
                <a:solidFill>
                  <a:srgbClr val="8A93A8"/>
                </a:solidFill>
                <a:latin typeface="Arial"/>
              </a:rPr>
              <a:t> joint ownership onto a single subcomponent.</a:t>
            </a:r>
          </a:p>
        </p:txBody>
      </p:sp>
      <p:pic>
        <p:nvPicPr>
          <p:cNvPr id="5" name="Picture 4">
            <a:extLst>
              <a:ext uri="{FF2B5EF4-FFF2-40B4-BE49-F238E27FC236}">
                <a16:creationId xmlns:a16="http://schemas.microsoft.com/office/drawing/2014/main" id="{C25D49E0-4789-1767-1AE3-304D570E87F9}"/>
              </a:ext>
            </a:extLst>
          </p:cNvPr>
          <p:cNvPicPr>
            <a:picLocks noChangeAspect="1"/>
          </p:cNvPicPr>
          <p:nvPr/>
        </p:nvPicPr>
        <p:blipFill>
          <a:blip r:embed="rId6"/>
          <a:stretch>
            <a:fillRect/>
          </a:stretch>
        </p:blipFill>
        <p:spPr>
          <a:xfrm>
            <a:off x="853884" y="1839933"/>
            <a:ext cx="7436232" cy="2571882"/>
          </a:xfrm>
          <a:prstGeom prst="rect">
            <a:avLst/>
          </a:prstGeom>
        </p:spPr>
      </p:pic>
      <p:pic>
        <p:nvPicPr>
          <p:cNvPr id="9" name="Picture 8">
            <a:extLst>
              <a:ext uri="{FF2B5EF4-FFF2-40B4-BE49-F238E27FC236}">
                <a16:creationId xmlns:a16="http://schemas.microsoft.com/office/drawing/2014/main" id="{905E55F9-9BBC-CF6F-38AD-3D6D40E770E2}"/>
              </a:ext>
            </a:extLst>
          </p:cNvPr>
          <p:cNvPicPr>
            <a:picLocks noChangeAspect="1"/>
          </p:cNvPicPr>
          <p:nvPr/>
        </p:nvPicPr>
        <p:blipFill>
          <a:blip r:embed="rId7"/>
          <a:stretch>
            <a:fillRect/>
          </a:stretch>
        </p:blipFill>
        <p:spPr>
          <a:xfrm>
            <a:off x="7997815" y="4559295"/>
            <a:ext cx="361969" cy="177809"/>
          </a:xfrm>
          <a:prstGeom prst="rect">
            <a:avLst/>
          </a:prstGeom>
        </p:spPr>
      </p:pic>
      <p:pic>
        <p:nvPicPr>
          <p:cNvPr id="6" name="Picture 5">
            <a:extLst>
              <a:ext uri="{FF2B5EF4-FFF2-40B4-BE49-F238E27FC236}">
                <a16:creationId xmlns:a16="http://schemas.microsoft.com/office/drawing/2014/main" id="{3D2B35FA-B505-E43E-D82F-658E98105FB2}"/>
              </a:ext>
            </a:extLst>
          </p:cNvPr>
          <p:cNvPicPr>
            <a:picLocks noChangeAspect="1"/>
          </p:cNvPicPr>
          <p:nvPr/>
        </p:nvPicPr>
        <p:blipFill>
          <a:blip r:embed="rId8"/>
          <a:stretch>
            <a:fillRect/>
          </a:stretch>
        </p:blipFill>
        <p:spPr>
          <a:xfrm flipV="1">
            <a:off x="7987010" y="4151612"/>
            <a:ext cx="476274" cy="19837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141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5FB3B61-A06A-D87D-9514-DC63EC16BE0C}"/>
              </a:ext>
            </a:extLst>
          </p:cNvPr>
          <p:cNvPicPr>
            <a:picLocks noChangeAspect="1"/>
          </p:cNvPicPr>
          <p:nvPr/>
        </p:nvPicPr>
        <p:blipFill>
          <a:blip r:embed="rId3"/>
          <a:stretch>
            <a:fillRect/>
          </a:stretch>
        </p:blipFill>
        <p:spPr>
          <a:xfrm>
            <a:off x="5212080" y="1207008"/>
            <a:ext cx="2606040" cy="2490728"/>
          </a:xfrm>
          <a:prstGeom prst="rect">
            <a:avLst/>
          </a:prstGeom>
        </p:spPr>
      </p:pic>
      <p:pic>
        <p:nvPicPr>
          <p:cNvPr id="4" name="Picture 3">
            <a:extLst>
              <a:ext uri="{FF2B5EF4-FFF2-40B4-BE49-F238E27FC236}">
                <a16:creationId xmlns:a16="http://schemas.microsoft.com/office/drawing/2014/main" id="{2204192A-42C9-5208-E799-1C30DB7A96B4}"/>
              </a:ext>
            </a:extLst>
          </p:cNvPr>
          <p:cNvPicPr>
            <a:picLocks noChangeAspect="1"/>
          </p:cNvPicPr>
          <p:nvPr/>
        </p:nvPicPr>
        <p:blipFill>
          <a:blip r:embed="rId4"/>
          <a:stretch>
            <a:fillRect/>
          </a:stretch>
        </p:blipFill>
        <p:spPr>
          <a:xfrm>
            <a:off x="457200" y="3822191"/>
            <a:ext cx="8229600" cy="1113924"/>
          </a:xfrm>
          <a:prstGeom prst="rect">
            <a:avLst/>
          </a:prstGeom>
        </p:spPr>
      </p:pic>
      <p:sp>
        <p:nvSpPr>
          <p:cNvPr id="7" name="TextBox 6"/>
          <p:cNvSpPr txBox="1"/>
          <p:nvPr/>
        </p:nvSpPr>
        <p:spPr>
          <a:xfrm>
            <a:off x="457200" y="292608"/>
            <a:ext cx="8229600" cy="400110"/>
          </a:xfrm>
          <a:prstGeom prst="rect">
            <a:avLst/>
          </a:prstGeom>
          <a:noFill/>
        </p:spPr>
        <p:txBody>
          <a:bodyPr wrap="square" lIns="0" tIns="0" rIns="0" bIns="0">
            <a:spAutoFit/>
          </a:bodyPr>
          <a:lstStyle/>
          <a:p>
            <a:r>
              <a:rPr lang="da-DK" sz="2600" b="1" dirty="0">
                <a:solidFill>
                  <a:srgbClr val="E8ECF4"/>
                </a:solidFill>
                <a:latin typeface="Arial"/>
              </a:rPr>
              <a:t>Find</a:t>
            </a:r>
            <a:r>
              <a:rPr sz="2600" b="1" dirty="0">
                <a:solidFill>
                  <a:srgbClr val="E8ECF4"/>
                </a:solidFill>
                <a:latin typeface="Arial"/>
              </a:rPr>
              <a:t> 1: one-hot importance, shared reconstruction</a:t>
            </a:r>
          </a:p>
        </p:txBody>
      </p:sp>
      <p:sp>
        <p:nvSpPr>
          <p:cNvPr id="8" name="TextBox 7"/>
          <p:cNvSpPr txBox="1"/>
          <p:nvPr/>
        </p:nvSpPr>
        <p:spPr>
          <a:xfrm>
            <a:off x="457200" y="768096"/>
            <a:ext cx="8229600" cy="274320"/>
          </a:xfrm>
          <a:prstGeom prst="rect">
            <a:avLst/>
          </a:prstGeom>
          <a:noFill/>
        </p:spPr>
        <p:txBody>
          <a:bodyPr wrap="square" lIns="0" tIns="0" rIns="0" bIns="0">
            <a:spAutoFit/>
          </a:bodyPr>
          <a:lstStyle/>
          <a:p>
            <a:r>
              <a:rPr sz="1300">
                <a:solidFill>
                  <a:srgbClr val="8A93A8"/>
                </a:solidFill>
                <a:latin typeface="Arial"/>
              </a:rPr>
              <a:t>In TMS 5-2 the assignment is one-hot, yet no subcomponent reconstructs alone</a:t>
            </a:r>
          </a:p>
        </p:txBody>
      </p:sp>
      <p:sp>
        <p:nvSpPr>
          <p:cNvPr id="9" name="TextBox 8"/>
          <p:cNvSpPr txBox="1"/>
          <p:nvPr/>
        </p:nvSpPr>
        <p:spPr>
          <a:xfrm>
            <a:off x="457200" y="1371600"/>
            <a:ext cx="4480560" cy="1302408"/>
          </a:xfrm>
          <a:prstGeom prst="rect">
            <a:avLst/>
          </a:prstGeom>
          <a:noFill/>
        </p:spPr>
        <p:txBody>
          <a:bodyPr wrap="square" lIns="0" tIns="0" rIns="0" bIns="0">
            <a:spAutoFit/>
          </a:bodyPr>
          <a:lstStyle/>
          <a:p>
            <a:pPr>
              <a:lnSpc>
                <a:spcPct val="112000"/>
              </a:lnSpc>
              <a:spcAft>
                <a:spcPts val="900"/>
              </a:spcAft>
            </a:pPr>
            <a:r>
              <a:rPr sz="1400" b="1" dirty="0">
                <a:solidFill>
                  <a:srgbClr val="E8ECF4"/>
                </a:solidFill>
                <a:latin typeface="Arial"/>
              </a:rPr>
              <a:t>One-hot assignment: </a:t>
            </a:r>
            <a:r>
              <a:rPr sz="1400" dirty="0">
                <a:solidFill>
                  <a:srgbClr val="8A93A8"/>
                </a:solidFill>
                <a:latin typeface="Arial"/>
              </a:rPr>
              <a:t>RSPD on TMS 5-2 assigns each feature to a single subcomponent.</a:t>
            </a:r>
          </a:p>
          <a:p>
            <a:pPr>
              <a:lnSpc>
                <a:spcPct val="112000"/>
              </a:lnSpc>
              <a:spcAft>
                <a:spcPts val="900"/>
              </a:spcAft>
            </a:pPr>
            <a:r>
              <a:rPr sz="1400" b="1" dirty="0">
                <a:solidFill>
                  <a:srgbClr val="E8ECF4"/>
                </a:solidFill>
                <a:latin typeface="Arial"/>
              </a:rPr>
              <a:t>But: </a:t>
            </a:r>
            <a:r>
              <a:rPr sz="1400" dirty="0">
                <a:solidFill>
                  <a:srgbClr val="8A93A8"/>
                </a:solidFill>
                <a:latin typeface="Arial"/>
              </a:rPr>
              <a:t>a subcomponent does not reconstruct the entire feature by itself; only the sum over subcomponents does.</a:t>
            </a:r>
          </a:p>
        </p:txBody>
      </p:sp>
    </p:spTree>
    <p:extLst>
      <p:ext uri="{BB962C8B-B14F-4D97-AF65-F5344CB8AC3E}">
        <p14:creationId xmlns:p14="http://schemas.microsoft.com/office/powerpoint/2010/main" val="370334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141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475488"/>
          </a:xfrm>
          <a:prstGeom prst="rect">
            <a:avLst/>
          </a:prstGeom>
          <a:noFill/>
        </p:spPr>
        <p:txBody>
          <a:bodyPr wrap="square" lIns="0" tIns="0" rIns="0" bIns="0">
            <a:spAutoFit/>
          </a:bodyPr>
          <a:lstStyle/>
          <a:p>
            <a:r>
              <a:rPr sz="2600" b="1">
                <a:solidFill>
                  <a:srgbClr val="E8ECF4"/>
                </a:solidFill>
                <a:latin typeface="Arial"/>
              </a:rPr>
              <a:t>The toy model of geometry</a:t>
            </a:r>
          </a:p>
        </p:txBody>
      </p:sp>
      <p:sp>
        <p:nvSpPr>
          <p:cNvPr id="3" name="TextBox 2"/>
          <p:cNvSpPr txBox="1"/>
          <p:nvPr/>
        </p:nvSpPr>
        <p:spPr>
          <a:xfrm>
            <a:off x="457200" y="768096"/>
            <a:ext cx="8229600" cy="200055"/>
          </a:xfrm>
          <a:prstGeom prst="rect">
            <a:avLst/>
          </a:prstGeom>
          <a:noFill/>
        </p:spPr>
        <p:txBody>
          <a:bodyPr wrap="square" lIns="0" tIns="0" rIns="0" bIns="0">
            <a:spAutoFit/>
          </a:bodyPr>
          <a:lstStyle/>
          <a:p>
            <a:endParaRPr sz="1300" dirty="0">
              <a:solidFill>
                <a:srgbClr val="8A93A8"/>
              </a:solidFill>
              <a:latin typeface="Arial"/>
            </a:endParaRPr>
          </a:p>
        </p:txBody>
      </p:sp>
      <p:sp>
        <p:nvSpPr>
          <p:cNvPr id="4" name="TextBox 3"/>
          <p:cNvSpPr txBox="1"/>
          <p:nvPr/>
        </p:nvSpPr>
        <p:spPr>
          <a:xfrm>
            <a:off x="457200" y="790549"/>
            <a:ext cx="8229600" cy="1073948"/>
          </a:xfrm>
          <a:prstGeom prst="rect">
            <a:avLst/>
          </a:prstGeom>
          <a:noFill/>
        </p:spPr>
        <p:txBody>
          <a:bodyPr wrap="square" lIns="0" tIns="0" rIns="0" bIns="0">
            <a:spAutoFit/>
          </a:bodyPr>
          <a:lstStyle/>
          <a:p>
            <a:pPr>
              <a:lnSpc>
                <a:spcPct val="112000"/>
              </a:lnSpc>
              <a:spcAft>
                <a:spcPts val="500"/>
              </a:spcAft>
            </a:pPr>
            <a:r>
              <a:rPr lang="da-DK" sz="1400" b="1" dirty="0">
                <a:solidFill>
                  <a:srgbClr val="E8ECF4"/>
                </a:solidFill>
                <a:latin typeface="Arial"/>
              </a:rPr>
              <a:t>What: </a:t>
            </a:r>
            <a:r>
              <a:rPr lang="da-DK" sz="1400" dirty="0">
                <a:solidFill>
                  <a:srgbClr val="8A93A8"/>
                </a:solidFill>
                <a:latin typeface="Arial"/>
              </a:rPr>
              <a:t>compute the volume of an n dimensional simplex; </a:t>
            </a:r>
            <a:r>
              <a:rPr sz="1400" dirty="0">
                <a:solidFill>
                  <a:srgbClr val="8A93A8"/>
                </a:solidFill>
                <a:latin typeface="Arial"/>
              </a:rPr>
              <a:t>here triangles in ℝ²</a:t>
            </a:r>
            <a:r>
              <a:rPr lang="da-DK" sz="1400" dirty="0">
                <a:solidFill>
                  <a:srgbClr val="8A93A8"/>
                </a:solidFill>
                <a:latin typeface="Arial"/>
              </a:rPr>
              <a:t>. </a:t>
            </a:r>
          </a:p>
          <a:p>
            <a:pPr>
              <a:lnSpc>
                <a:spcPct val="112000"/>
              </a:lnSpc>
              <a:spcAft>
                <a:spcPts val="500"/>
              </a:spcAft>
            </a:pPr>
            <a:r>
              <a:rPr lang="da-DK" sz="1400" b="1" dirty="0">
                <a:solidFill>
                  <a:srgbClr val="E8ECF4"/>
                </a:solidFill>
                <a:latin typeface="Arial"/>
              </a:rPr>
              <a:t>How:</a:t>
            </a:r>
            <a:r>
              <a:rPr lang="da-DK" sz="1400" dirty="0">
                <a:solidFill>
                  <a:srgbClr val="E8ECF4"/>
                </a:solidFill>
                <a:latin typeface="Arial"/>
              </a:rPr>
              <a:t> </a:t>
            </a:r>
            <a:r>
              <a:rPr lang="da-DK" sz="1400" dirty="0">
                <a:solidFill>
                  <a:srgbClr val="8A93A8"/>
                </a:solidFill>
                <a:latin typeface="Arial"/>
              </a:rPr>
              <a:t>A 2 layer neural network with a ReLU nonlinearity. The hidden dimension is much larger than the input dimension.</a:t>
            </a:r>
          </a:p>
          <a:p>
            <a:pPr>
              <a:lnSpc>
                <a:spcPct val="112000"/>
              </a:lnSpc>
              <a:spcAft>
                <a:spcPts val="500"/>
              </a:spcAft>
            </a:pPr>
            <a:r>
              <a:rPr lang="da-DK" sz="1400" b="1" dirty="0">
                <a:solidFill>
                  <a:srgbClr val="E8ECF4"/>
                </a:solidFill>
                <a:latin typeface="Arial"/>
              </a:rPr>
              <a:t>Why: </a:t>
            </a:r>
            <a:r>
              <a:rPr lang="da-DK" sz="1400" dirty="0">
                <a:solidFill>
                  <a:srgbClr val="8A93A8"/>
                </a:solidFill>
                <a:latin typeface="Arial"/>
              </a:rPr>
              <a:t>Computation cannot be compressed to a rank 1 direction in the target model.</a:t>
            </a:r>
          </a:p>
        </p:txBody>
      </p:sp>
      <p:pic>
        <p:nvPicPr>
          <p:cNvPr id="15" name="Picture 14">
            <a:extLst>
              <a:ext uri="{FF2B5EF4-FFF2-40B4-BE49-F238E27FC236}">
                <a16:creationId xmlns:a16="http://schemas.microsoft.com/office/drawing/2014/main" id="{B3534E15-D128-B1F6-2592-A154A6E6F73B}"/>
              </a:ext>
            </a:extLst>
          </p:cNvPr>
          <p:cNvPicPr>
            <a:picLocks noChangeAspect="1"/>
          </p:cNvPicPr>
          <p:nvPr/>
        </p:nvPicPr>
        <p:blipFill>
          <a:blip r:embed="rId3"/>
          <a:stretch>
            <a:fillRect/>
          </a:stretch>
        </p:blipFill>
        <p:spPr>
          <a:xfrm>
            <a:off x="1011524" y="4792465"/>
            <a:ext cx="1187511" cy="292115"/>
          </a:xfrm>
          <a:prstGeom prst="rect">
            <a:avLst/>
          </a:prstGeom>
        </p:spPr>
      </p:pic>
      <p:pic>
        <p:nvPicPr>
          <p:cNvPr id="17" name="Picture 16">
            <a:extLst>
              <a:ext uri="{FF2B5EF4-FFF2-40B4-BE49-F238E27FC236}">
                <a16:creationId xmlns:a16="http://schemas.microsoft.com/office/drawing/2014/main" id="{7A02DFD1-F96C-BB18-A1BD-6A386DBBD690}"/>
              </a:ext>
            </a:extLst>
          </p:cNvPr>
          <p:cNvPicPr>
            <a:picLocks noChangeAspect="1"/>
          </p:cNvPicPr>
          <p:nvPr/>
        </p:nvPicPr>
        <p:blipFill>
          <a:blip r:embed="rId3"/>
          <a:stretch>
            <a:fillRect/>
          </a:stretch>
        </p:blipFill>
        <p:spPr>
          <a:xfrm>
            <a:off x="1778605" y="4758175"/>
            <a:ext cx="532796" cy="292115"/>
          </a:xfrm>
          <a:prstGeom prst="rect">
            <a:avLst/>
          </a:prstGeom>
        </p:spPr>
      </p:pic>
      <p:pic>
        <p:nvPicPr>
          <p:cNvPr id="21" name="Picture 20">
            <a:extLst>
              <a:ext uri="{FF2B5EF4-FFF2-40B4-BE49-F238E27FC236}">
                <a16:creationId xmlns:a16="http://schemas.microsoft.com/office/drawing/2014/main" id="{0B3E73D9-A0D0-38AE-F8AB-9B2107FB8E0B}"/>
              </a:ext>
            </a:extLst>
          </p:cNvPr>
          <p:cNvPicPr>
            <a:picLocks noChangeAspect="1"/>
          </p:cNvPicPr>
          <p:nvPr/>
        </p:nvPicPr>
        <p:blipFill>
          <a:blip r:embed="rId4"/>
          <a:stretch>
            <a:fillRect/>
          </a:stretch>
        </p:blipFill>
        <p:spPr>
          <a:xfrm>
            <a:off x="0" y="3089788"/>
            <a:ext cx="685835" cy="1181161"/>
          </a:xfrm>
          <a:prstGeom prst="rect">
            <a:avLst/>
          </a:prstGeom>
        </p:spPr>
      </p:pic>
      <p:pic>
        <p:nvPicPr>
          <p:cNvPr id="23" name="Picture 22">
            <a:extLst>
              <a:ext uri="{FF2B5EF4-FFF2-40B4-BE49-F238E27FC236}">
                <a16:creationId xmlns:a16="http://schemas.microsoft.com/office/drawing/2014/main" id="{1ECFB4D9-37A9-DFF2-7EEE-CAAB37B49525}"/>
              </a:ext>
            </a:extLst>
          </p:cNvPr>
          <p:cNvPicPr>
            <a:picLocks noChangeAspect="1"/>
          </p:cNvPicPr>
          <p:nvPr/>
        </p:nvPicPr>
        <p:blipFill>
          <a:blip r:embed="rId5"/>
          <a:stretch>
            <a:fillRect/>
          </a:stretch>
        </p:blipFill>
        <p:spPr>
          <a:xfrm>
            <a:off x="282566" y="4270949"/>
            <a:ext cx="349268" cy="304816"/>
          </a:xfrm>
          <a:prstGeom prst="rect">
            <a:avLst/>
          </a:prstGeom>
        </p:spPr>
      </p:pic>
      <p:pic>
        <p:nvPicPr>
          <p:cNvPr id="25" name="Picture 24">
            <a:extLst>
              <a:ext uri="{FF2B5EF4-FFF2-40B4-BE49-F238E27FC236}">
                <a16:creationId xmlns:a16="http://schemas.microsoft.com/office/drawing/2014/main" id="{B8E75C52-4598-BB96-F400-9DB39AD3E2EA}"/>
              </a:ext>
            </a:extLst>
          </p:cNvPr>
          <p:cNvPicPr>
            <a:picLocks noChangeAspect="1"/>
          </p:cNvPicPr>
          <p:nvPr/>
        </p:nvPicPr>
        <p:blipFill>
          <a:blip r:embed="rId5"/>
          <a:stretch>
            <a:fillRect/>
          </a:stretch>
        </p:blipFill>
        <p:spPr>
          <a:xfrm>
            <a:off x="577850" y="2419342"/>
            <a:ext cx="4168784" cy="304816"/>
          </a:xfrm>
          <a:prstGeom prst="rect">
            <a:avLst/>
          </a:prstGeom>
        </p:spPr>
      </p:pic>
      <p:pic>
        <p:nvPicPr>
          <p:cNvPr id="27" name="Picture 26">
            <a:extLst>
              <a:ext uri="{FF2B5EF4-FFF2-40B4-BE49-F238E27FC236}">
                <a16:creationId xmlns:a16="http://schemas.microsoft.com/office/drawing/2014/main" id="{EA962FB4-B339-4EDB-75F9-6F5F018A04CE}"/>
              </a:ext>
            </a:extLst>
          </p:cNvPr>
          <p:cNvPicPr>
            <a:picLocks noChangeAspect="1"/>
          </p:cNvPicPr>
          <p:nvPr/>
        </p:nvPicPr>
        <p:blipFill>
          <a:blip r:embed="rId5"/>
          <a:stretch>
            <a:fillRect/>
          </a:stretch>
        </p:blipFill>
        <p:spPr>
          <a:xfrm>
            <a:off x="336567" y="4487649"/>
            <a:ext cx="349268" cy="304816"/>
          </a:xfrm>
          <a:prstGeom prst="rect">
            <a:avLst/>
          </a:prstGeom>
        </p:spPr>
      </p:pic>
      <p:pic>
        <p:nvPicPr>
          <p:cNvPr id="29" name="Picture 28">
            <a:extLst>
              <a:ext uri="{FF2B5EF4-FFF2-40B4-BE49-F238E27FC236}">
                <a16:creationId xmlns:a16="http://schemas.microsoft.com/office/drawing/2014/main" id="{A5B5F929-A02E-99DF-EB47-FA3815DB6A75}"/>
              </a:ext>
            </a:extLst>
          </p:cNvPr>
          <p:cNvPicPr>
            <a:picLocks noChangeAspect="1"/>
          </p:cNvPicPr>
          <p:nvPr/>
        </p:nvPicPr>
        <p:blipFill>
          <a:blip r:embed="rId5"/>
          <a:stretch>
            <a:fillRect/>
          </a:stretch>
        </p:blipFill>
        <p:spPr>
          <a:xfrm>
            <a:off x="403216" y="4786114"/>
            <a:ext cx="349268" cy="304816"/>
          </a:xfrm>
          <a:prstGeom prst="rect">
            <a:avLst/>
          </a:prstGeom>
        </p:spPr>
      </p:pic>
      <p:pic>
        <p:nvPicPr>
          <p:cNvPr id="31" name="Picture 30">
            <a:extLst>
              <a:ext uri="{FF2B5EF4-FFF2-40B4-BE49-F238E27FC236}">
                <a16:creationId xmlns:a16="http://schemas.microsoft.com/office/drawing/2014/main" id="{DEF1C311-196C-4538-D621-1D709F056C95}"/>
              </a:ext>
            </a:extLst>
          </p:cNvPr>
          <p:cNvPicPr>
            <a:picLocks noChangeAspect="1"/>
          </p:cNvPicPr>
          <p:nvPr/>
        </p:nvPicPr>
        <p:blipFill>
          <a:blip r:embed="rId5"/>
          <a:stretch>
            <a:fillRect/>
          </a:stretch>
        </p:blipFill>
        <p:spPr>
          <a:xfrm>
            <a:off x="727368" y="4838684"/>
            <a:ext cx="257390" cy="224631"/>
          </a:xfrm>
          <a:prstGeom prst="rect">
            <a:avLst/>
          </a:prstGeom>
        </p:spPr>
      </p:pic>
      <p:pic>
        <p:nvPicPr>
          <p:cNvPr id="33" name="Picture 32">
            <a:extLst>
              <a:ext uri="{FF2B5EF4-FFF2-40B4-BE49-F238E27FC236}">
                <a16:creationId xmlns:a16="http://schemas.microsoft.com/office/drawing/2014/main" id="{610ED891-7ADC-DA3E-ADCA-53D4E9467678}"/>
              </a:ext>
            </a:extLst>
          </p:cNvPr>
          <p:cNvPicPr>
            <a:picLocks noChangeAspect="1"/>
          </p:cNvPicPr>
          <p:nvPr/>
        </p:nvPicPr>
        <p:blipFill>
          <a:blip r:embed="rId6"/>
          <a:stretch>
            <a:fillRect/>
          </a:stretch>
        </p:blipFill>
        <p:spPr>
          <a:xfrm>
            <a:off x="457200" y="5185971"/>
            <a:ext cx="1549480" cy="228612"/>
          </a:xfrm>
          <a:prstGeom prst="rect">
            <a:avLst/>
          </a:prstGeom>
        </p:spPr>
      </p:pic>
      <p:pic>
        <p:nvPicPr>
          <p:cNvPr id="37" name="Picture 36">
            <a:extLst>
              <a:ext uri="{FF2B5EF4-FFF2-40B4-BE49-F238E27FC236}">
                <a16:creationId xmlns:a16="http://schemas.microsoft.com/office/drawing/2014/main" id="{FF5B83C3-3BBB-091A-A4B2-4468FAC9F721}"/>
              </a:ext>
            </a:extLst>
          </p:cNvPr>
          <p:cNvPicPr>
            <a:picLocks noChangeAspect="1"/>
          </p:cNvPicPr>
          <p:nvPr/>
        </p:nvPicPr>
        <p:blipFill>
          <a:blip r:embed="rId7"/>
          <a:stretch>
            <a:fillRect/>
          </a:stretch>
        </p:blipFill>
        <p:spPr>
          <a:xfrm>
            <a:off x="457200" y="2313581"/>
            <a:ext cx="7531487" cy="2673487"/>
          </a:xfrm>
          <a:prstGeom prst="rect">
            <a:avLst/>
          </a:prstGeom>
        </p:spPr>
      </p:pic>
      <p:pic>
        <p:nvPicPr>
          <p:cNvPr id="39" name="Picture 38">
            <a:extLst>
              <a:ext uri="{FF2B5EF4-FFF2-40B4-BE49-F238E27FC236}">
                <a16:creationId xmlns:a16="http://schemas.microsoft.com/office/drawing/2014/main" id="{89BCF53C-FBAF-EC37-CA03-821640CB596A}"/>
              </a:ext>
            </a:extLst>
          </p:cNvPr>
          <p:cNvPicPr>
            <a:picLocks noChangeAspect="1"/>
          </p:cNvPicPr>
          <p:nvPr/>
        </p:nvPicPr>
        <p:blipFill>
          <a:blip r:embed="rId8"/>
          <a:stretch>
            <a:fillRect/>
          </a:stretch>
        </p:blipFill>
        <p:spPr>
          <a:xfrm>
            <a:off x="6213436" y="4841361"/>
            <a:ext cx="1492327" cy="234962"/>
          </a:xfrm>
          <a:prstGeom prst="rect">
            <a:avLst/>
          </a:prstGeom>
        </p:spPr>
      </p:pic>
      <p:pic>
        <p:nvPicPr>
          <p:cNvPr id="6" name="Picture 5">
            <a:extLst>
              <a:ext uri="{FF2B5EF4-FFF2-40B4-BE49-F238E27FC236}">
                <a16:creationId xmlns:a16="http://schemas.microsoft.com/office/drawing/2014/main" id="{7B40A971-2992-6697-2504-8ED2823209C8}"/>
              </a:ext>
            </a:extLst>
          </p:cNvPr>
          <p:cNvPicPr>
            <a:picLocks noChangeAspect="1"/>
          </p:cNvPicPr>
          <p:nvPr/>
        </p:nvPicPr>
        <p:blipFill>
          <a:blip r:embed="rId9"/>
          <a:stretch>
            <a:fillRect/>
          </a:stretch>
        </p:blipFill>
        <p:spPr>
          <a:xfrm>
            <a:off x="1168013" y="3827635"/>
            <a:ext cx="228612" cy="292115"/>
          </a:xfrm>
          <a:prstGeom prst="rect">
            <a:avLst/>
          </a:prstGeom>
        </p:spPr>
      </p:pic>
      <p:pic>
        <p:nvPicPr>
          <p:cNvPr id="8" name="Picture 7">
            <a:extLst>
              <a:ext uri="{FF2B5EF4-FFF2-40B4-BE49-F238E27FC236}">
                <a16:creationId xmlns:a16="http://schemas.microsoft.com/office/drawing/2014/main" id="{AA277E6F-19CB-814B-D9B4-92CF2A57771D}"/>
              </a:ext>
            </a:extLst>
          </p:cNvPr>
          <p:cNvPicPr>
            <a:picLocks noChangeAspect="1"/>
          </p:cNvPicPr>
          <p:nvPr/>
        </p:nvPicPr>
        <p:blipFill>
          <a:blip r:embed="rId10"/>
          <a:stretch>
            <a:fillRect/>
          </a:stretch>
        </p:blipFill>
        <p:spPr>
          <a:xfrm>
            <a:off x="1288675" y="3650324"/>
            <a:ext cx="323867" cy="463574"/>
          </a:xfrm>
          <a:prstGeom prst="rect">
            <a:avLst/>
          </a:prstGeom>
        </p:spPr>
      </p:pic>
    </p:spTree>
    <p:extLst>
      <p:ext uri="{BB962C8B-B14F-4D97-AF65-F5344CB8AC3E}">
        <p14:creationId xmlns:p14="http://schemas.microsoft.com/office/powerpoint/2010/main" val="3798378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141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203736-BA42-6296-1147-1FB3ECF96249}"/>
              </a:ext>
            </a:extLst>
          </p:cNvPr>
          <p:cNvPicPr>
            <a:picLocks noChangeAspect="1"/>
          </p:cNvPicPr>
          <p:nvPr/>
        </p:nvPicPr>
        <p:blipFill>
          <a:blip r:embed="rId3"/>
          <a:stretch>
            <a:fillRect/>
          </a:stretch>
        </p:blipFill>
        <p:spPr>
          <a:xfrm>
            <a:off x="502920" y="2212848"/>
            <a:ext cx="5212080" cy="2668584"/>
          </a:xfrm>
          <a:prstGeom prst="rect">
            <a:avLst/>
          </a:prstGeom>
        </p:spPr>
      </p:pic>
      <p:pic>
        <p:nvPicPr>
          <p:cNvPr id="7" name="Picture 6">
            <a:extLst>
              <a:ext uri="{FF2B5EF4-FFF2-40B4-BE49-F238E27FC236}">
                <a16:creationId xmlns:a16="http://schemas.microsoft.com/office/drawing/2014/main" id="{7702FD06-D0F4-904B-91E0-5AE8B0AD1A67}"/>
              </a:ext>
            </a:extLst>
          </p:cNvPr>
          <p:cNvPicPr>
            <a:picLocks noChangeAspect="1"/>
          </p:cNvPicPr>
          <p:nvPr/>
        </p:nvPicPr>
        <p:blipFill>
          <a:blip r:embed="rId4"/>
          <a:stretch>
            <a:fillRect/>
          </a:stretch>
        </p:blipFill>
        <p:spPr>
          <a:xfrm>
            <a:off x="6080760" y="1920240"/>
            <a:ext cx="2331720" cy="2869809"/>
          </a:xfrm>
          <a:prstGeom prst="rect">
            <a:avLst/>
          </a:prstGeom>
        </p:spPr>
      </p:pic>
      <p:sp>
        <p:nvSpPr>
          <p:cNvPr id="8" name="TextBox 7"/>
          <p:cNvSpPr txBox="1"/>
          <p:nvPr/>
        </p:nvSpPr>
        <p:spPr>
          <a:xfrm>
            <a:off x="457200" y="292608"/>
            <a:ext cx="8229600" cy="400110"/>
          </a:xfrm>
          <a:prstGeom prst="rect">
            <a:avLst/>
          </a:prstGeom>
          <a:noFill/>
        </p:spPr>
        <p:txBody>
          <a:bodyPr wrap="square" lIns="0" tIns="0" rIns="0" bIns="0">
            <a:spAutoFit/>
          </a:bodyPr>
          <a:lstStyle/>
          <a:p>
            <a:r>
              <a:rPr sz="2600" b="1" dirty="0">
                <a:solidFill>
                  <a:srgbClr val="E8ECF4"/>
                </a:solidFill>
                <a:latin typeface="Arial"/>
              </a:rPr>
              <a:t>Find</a:t>
            </a:r>
            <a:r>
              <a:rPr lang="da-DK" sz="2600" b="1" dirty="0">
                <a:solidFill>
                  <a:srgbClr val="E8ECF4"/>
                </a:solidFill>
                <a:latin typeface="Arial"/>
              </a:rPr>
              <a:t> 2</a:t>
            </a:r>
            <a:r>
              <a:rPr sz="2600" b="1" dirty="0">
                <a:solidFill>
                  <a:srgbClr val="E8ECF4"/>
                </a:solidFill>
                <a:latin typeface="Arial"/>
              </a:rPr>
              <a:t>: SPD on the toy model of geometry</a:t>
            </a:r>
          </a:p>
        </p:txBody>
      </p:sp>
      <p:sp>
        <p:nvSpPr>
          <p:cNvPr id="9" name="TextBox 8"/>
          <p:cNvSpPr txBox="1"/>
          <p:nvPr/>
        </p:nvSpPr>
        <p:spPr>
          <a:xfrm>
            <a:off x="457200" y="768096"/>
            <a:ext cx="8229600" cy="200055"/>
          </a:xfrm>
          <a:prstGeom prst="rect">
            <a:avLst/>
          </a:prstGeom>
          <a:noFill/>
        </p:spPr>
        <p:txBody>
          <a:bodyPr wrap="square" lIns="0" tIns="0" rIns="0" bIns="0">
            <a:spAutoFit/>
          </a:bodyPr>
          <a:lstStyle/>
          <a:p>
            <a:r>
              <a:rPr sz="1300" dirty="0">
                <a:solidFill>
                  <a:srgbClr val="8A93A8"/>
                </a:solidFill>
                <a:latin typeface="Arial"/>
              </a:rPr>
              <a:t>A clear clustering structure, but only inferable </a:t>
            </a:r>
            <a:r>
              <a:rPr lang="da-DK" sz="1300" dirty="0">
                <a:solidFill>
                  <a:srgbClr val="8A93A8"/>
                </a:solidFill>
                <a:latin typeface="Arial"/>
              </a:rPr>
              <a:t>by knowing the ground truth (Triangles in R2)</a:t>
            </a:r>
            <a:endParaRPr sz="1300" dirty="0">
              <a:solidFill>
                <a:srgbClr val="8A93A8"/>
              </a:solidFill>
              <a:latin typeface="Arial"/>
            </a:endParaRPr>
          </a:p>
        </p:txBody>
      </p:sp>
      <p:sp>
        <p:nvSpPr>
          <p:cNvPr id="10" name="TextBox 9"/>
          <p:cNvSpPr txBox="1"/>
          <p:nvPr/>
        </p:nvSpPr>
        <p:spPr>
          <a:xfrm>
            <a:off x="457200" y="1143000"/>
            <a:ext cx="8229600" cy="768544"/>
          </a:xfrm>
          <a:prstGeom prst="rect">
            <a:avLst/>
          </a:prstGeom>
          <a:noFill/>
        </p:spPr>
        <p:txBody>
          <a:bodyPr wrap="square" lIns="0" tIns="0" rIns="0" bIns="0">
            <a:spAutoFit/>
          </a:bodyPr>
          <a:lstStyle/>
          <a:p>
            <a:pPr>
              <a:lnSpc>
                <a:spcPct val="112000"/>
              </a:lnSpc>
              <a:spcAft>
                <a:spcPts val="500"/>
              </a:spcAft>
            </a:pPr>
            <a:r>
              <a:rPr lang="da-DK" sz="1400" b="1" dirty="0">
                <a:solidFill>
                  <a:srgbClr val="E8ECF4"/>
                </a:solidFill>
                <a:latin typeface="Arial"/>
              </a:rPr>
              <a:t>Decomposition with SPD</a:t>
            </a:r>
            <a:r>
              <a:rPr sz="1400" b="1" dirty="0">
                <a:solidFill>
                  <a:srgbClr val="E8ECF4"/>
                </a:solidFill>
                <a:latin typeface="Arial"/>
              </a:rPr>
              <a:t>:</a:t>
            </a:r>
            <a:r>
              <a:rPr lang="da-DK" sz="1400" b="1" dirty="0">
                <a:solidFill>
                  <a:srgbClr val="E8ECF4"/>
                </a:solidFill>
                <a:latin typeface="Arial"/>
              </a:rPr>
              <a:t> </a:t>
            </a:r>
            <a:r>
              <a:rPr lang="da-DK" sz="1400" b="1" dirty="0">
                <a:solidFill>
                  <a:srgbClr val="8A93A8"/>
                </a:solidFill>
                <a:latin typeface="Arial"/>
              </a:rPr>
              <a:t>c</a:t>
            </a:r>
            <a:r>
              <a:rPr lang="da-DK" sz="1400" dirty="0">
                <a:solidFill>
                  <a:srgbClr val="8A93A8"/>
                </a:solidFill>
                <a:latin typeface="Arial"/>
              </a:rPr>
              <a:t>l</a:t>
            </a:r>
            <a:r>
              <a:rPr sz="1400" dirty="0">
                <a:solidFill>
                  <a:srgbClr val="8A93A8"/>
                </a:solidFill>
                <a:latin typeface="Arial"/>
              </a:rPr>
              <a:t>ear clustering structure across subcomponents</a:t>
            </a:r>
            <a:r>
              <a:rPr lang="da-DK" sz="1400" dirty="0">
                <a:solidFill>
                  <a:srgbClr val="8A93A8"/>
                </a:solidFill>
                <a:latin typeface="Arial"/>
              </a:rPr>
              <a:t> at rank 1</a:t>
            </a:r>
            <a:r>
              <a:rPr sz="1400" dirty="0">
                <a:solidFill>
                  <a:srgbClr val="8A93A8"/>
                </a:solidFill>
                <a:latin typeface="Arial"/>
              </a:rPr>
              <a:t>.</a:t>
            </a:r>
          </a:p>
          <a:p>
            <a:pPr>
              <a:lnSpc>
                <a:spcPct val="112000"/>
              </a:lnSpc>
              <a:spcAft>
                <a:spcPts val="500"/>
              </a:spcAft>
            </a:pPr>
            <a:r>
              <a:rPr sz="1400" b="1" dirty="0">
                <a:solidFill>
                  <a:srgbClr val="E8ECF4"/>
                </a:solidFill>
                <a:latin typeface="Arial"/>
              </a:rPr>
              <a:t>The catch: </a:t>
            </a:r>
            <a:r>
              <a:rPr sz="1400" dirty="0">
                <a:solidFill>
                  <a:srgbClr val="8A93A8"/>
                </a:solidFill>
                <a:latin typeface="Arial"/>
              </a:rPr>
              <a:t>the structure is only inferable by knowing the task; </a:t>
            </a:r>
            <a:r>
              <a:rPr lang="da-DK" sz="1400" dirty="0">
                <a:solidFill>
                  <a:srgbClr val="8A93A8"/>
                </a:solidFill>
                <a:latin typeface="Arial"/>
              </a:rPr>
              <a:t>individual coordinates are shared across multiple subcomponents.</a:t>
            </a:r>
            <a:endParaRPr sz="1400" dirty="0">
              <a:solidFill>
                <a:srgbClr val="8A93A8"/>
              </a:solidFill>
              <a:latin typeface="Arial"/>
            </a:endParaRPr>
          </a:p>
        </p:txBody>
      </p:sp>
    </p:spTree>
    <p:extLst>
      <p:ext uri="{BB962C8B-B14F-4D97-AF65-F5344CB8AC3E}">
        <p14:creationId xmlns:p14="http://schemas.microsoft.com/office/powerpoint/2010/main" val="2314312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141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ADB423-0692-4FA6-5DB3-21C2EE732F7B}"/>
              </a:ext>
            </a:extLst>
          </p:cNvPr>
          <p:cNvPicPr>
            <a:picLocks noChangeAspect="1"/>
          </p:cNvPicPr>
          <p:nvPr/>
        </p:nvPicPr>
        <p:blipFill>
          <a:blip r:embed="rId3"/>
          <a:stretch>
            <a:fillRect/>
          </a:stretch>
        </p:blipFill>
        <p:spPr>
          <a:xfrm>
            <a:off x="4823345" y="2379598"/>
            <a:ext cx="3154680" cy="2266509"/>
          </a:xfrm>
          <a:prstGeom prst="rect">
            <a:avLst/>
          </a:prstGeom>
        </p:spPr>
      </p:pic>
      <p:sp>
        <p:nvSpPr>
          <p:cNvPr id="9" name="TextBox 8"/>
          <p:cNvSpPr txBox="1"/>
          <p:nvPr/>
        </p:nvSpPr>
        <p:spPr>
          <a:xfrm>
            <a:off x="457200" y="292608"/>
            <a:ext cx="8229600" cy="400110"/>
          </a:xfrm>
          <a:prstGeom prst="rect">
            <a:avLst/>
          </a:prstGeom>
          <a:noFill/>
        </p:spPr>
        <p:txBody>
          <a:bodyPr wrap="square" lIns="0" tIns="0" rIns="0" bIns="0">
            <a:spAutoFit/>
          </a:bodyPr>
          <a:lstStyle/>
          <a:p>
            <a:r>
              <a:rPr lang="da-DK" sz="2600" b="1" dirty="0">
                <a:solidFill>
                  <a:srgbClr val="E8ECF4"/>
                </a:solidFill>
                <a:latin typeface="Arial"/>
              </a:rPr>
              <a:t>Find 3: </a:t>
            </a:r>
            <a:r>
              <a:rPr sz="2600" b="1" dirty="0">
                <a:solidFill>
                  <a:srgbClr val="E8ECF4"/>
                </a:solidFill>
                <a:latin typeface="Arial"/>
              </a:rPr>
              <a:t>Extending</a:t>
            </a:r>
            <a:r>
              <a:rPr lang="da-DK" sz="2600" b="1" dirty="0">
                <a:solidFill>
                  <a:srgbClr val="E8ECF4"/>
                </a:solidFill>
                <a:latin typeface="Arial"/>
              </a:rPr>
              <a:t> SPD</a:t>
            </a:r>
            <a:r>
              <a:rPr sz="2600" b="1" dirty="0">
                <a:solidFill>
                  <a:srgbClr val="E8ECF4"/>
                </a:solidFill>
                <a:latin typeface="Arial"/>
              </a:rPr>
              <a:t> to rank </a:t>
            </a:r>
            <a:r>
              <a:rPr lang="da-DK" sz="2600" b="1" dirty="0">
                <a:solidFill>
                  <a:srgbClr val="E8ECF4"/>
                </a:solidFill>
                <a:latin typeface="Arial"/>
              </a:rPr>
              <a:t>5</a:t>
            </a:r>
            <a:endParaRPr sz="2600" b="1" dirty="0">
              <a:solidFill>
                <a:srgbClr val="E8ECF4"/>
              </a:solidFill>
              <a:latin typeface="Arial"/>
            </a:endParaRPr>
          </a:p>
        </p:txBody>
      </p:sp>
      <p:sp>
        <p:nvSpPr>
          <p:cNvPr id="10" name="TextBox 9"/>
          <p:cNvSpPr txBox="1"/>
          <p:nvPr/>
        </p:nvSpPr>
        <p:spPr>
          <a:xfrm>
            <a:off x="457200" y="692718"/>
            <a:ext cx="8229600" cy="200055"/>
          </a:xfrm>
          <a:prstGeom prst="rect">
            <a:avLst/>
          </a:prstGeom>
          <a:noFill/>
        </p:spPr>
        <p:txBody>
          <a:bodyPr wrap="square" lIns="0" tIns="0" rIns="0" bIns="0">
            <a:spAutoFit/>
          </a:bodyPr>
          <a:lstStyle/>
          <a:p>
            <a:r>
              <a:rPr sz="1300" dirty="0">
                <a:solidFill>
                  <a:srgbClr val="8A93A8"/>
                </a:solidFill>
                <a:latin typeface="Arial"/>
              </a:rPr>
              <a:t>Importance collapses</a:t>
            </a:r>
            <a:r>
              <a:rPr lang="da-DK" sz="1300" dirty="0">
                <a:solidFill>
                  <a:srgbClr val="8A93A8"/>
                </a:solidFill>
                <a:latin typeface="Arial"/>
              </a:rPr>
              <a:t>, </a:t>
            </a:r>
            <a:r>
              <a:rPr sz="1300" dirty="0">
                <a:solidFill>
                  <a:srgbClr val="8A93A8"/>
                </a:solidFill>
                <a:latin typeface="Arial"/>
              </a:rPr>
              <a:t>the norm does not</a:t>
            </a:r>
            <a:r>
              <a:rPr lang="da-DK" sz="1300" dirty="0">
                <a:solidFill>
                  <a:srgbClr val="8A93A8"/>
                </a:solidFill>
                <a:latin typeface="Arial"/>
              </a:rPr>
              <a:t>?</a:t>
            </a:r>
            <a:endParaRPr sz="1300" dirty="0">
              <a:solidFill>
                <a:srgbClr val="8A93A8"/>
              </a:solidFill>
              <a:latin typeface="Arial"/>
            </a:endParaRPr>
          </a:p>
        </p:txBody>
      </p:sp>
      <p:sp>
        <p:nvSpPr>
          <p:cNvPr id="11" name="TextBox 10"/>
          <p:cNvSpPr txBox="1"/>
          <p:nvPr/>
        </p:nvSpPr>
        <p:spPr>
          <a:xfrm>
            <a:off x="457200" y="1143000"/>
            <a:ext cx="8229600" cy="1009828"/>
          </a:xfrm>
          <a:prstGeom prst="rect">
            <a:avLst/>
          </a:prstGeom>
          <a:noFill/>
        </p:spPr>
        <p:txBody>
          <a:bodyPr wrap="square" lIns="0" tIns="0" rIns="0" bIns="0">
            <a:spAutoFit/>
          </a:bodyPr>
          <a:lstStyle/>
          <a:p>
            <a:pPr>
              <a:lnSpc>
                <a:spcPct val="112000"/>
              </a:lnSpc>
              <a:spcAft>
                <a:spcPts val="500"/>
              </a:spcAft>
            </a:pPr>
            <a:r>
              <a:rPr sz="1400" b="1" dirty="0">
                <a:solidFill>
                  <a:srgbClr val="E8ECF4"/>
                </a:solidFill>
                <a:latin typeface="Arial"/>
              </a:rPr>
              <a:t>As hypothesized: </a:t>
            </a:r>
            <a:r>
              <a:rPr sz="1400" dirty="0">
                <a:solidFill>
                  <a:srgbClr val="8A93A8"/>
                </a:solidFill>
                <a:latin typeface="Arial"/>
              </a:rPr>
              <a:t>subcomponent importance collapses onto fewer subcomponents, each causally important </a:t>
            </a:r>
            <a:r>
              <a:rPr sz="1400" dirty="0" err="1">
                <a:solidFill>
                  <a:srgbClr val="8A93A8"/>
                </a:solidFill>
                <a:latin typeface="Arial"/>
              </a:rPr>
              <a:t>fo</a:t>
            </a:r>
            <a:r>
              <a:rPr lang="da-DK" sz="1400" dirty="0">
                <a:solidFill>
                  <a:srgbClr val="8A93A8"/>
                </a:solidFill>
                <a:latin typeface="Arial"/>
              </a:rPr>
              <a:t>r multiple</a:t>
            </a:r>
            <a:r>
              <a:rPr sz="1400" dirty="0">
                <a:solidFill>
                  <a:srgbClr val="8A93A8"/>
                </a:solidFill>
                <a:latin typeface="Arial"/>
              </a:rPr>
              <a:t> </a:t>
            </a:r>
            <a:r>
              <a:rPr lang="da-DK" sz="1400" dirty="0">
                <a:solidFill>
                  <a:srgbClr val="8A93A8"/>
                </a:solidFill>
                <a:latin typeface="Arial"/>
              </a:rPr>
              <a:t>simplices</a:t>
            </a:r>
            <a:r>
              <a:rPr sz="1400" dirty="0">
                <a:solidFill>
                  <a:srgbClr val="8A93A8"/>
                </a:solidFill>
                <a:latin typeface="Arial"/>
              </a:rPr>
              <a:t>.</a:t>
            </a:r>
            <a:endParaRPr lang="da-DK" sz="1400" dirty="0">
              <a:solidFill>
                <a:srgbClr val="8A93A8"/>
              </a:solidFill>
              <a:latin typeface="Arial"/>
            </a:endParaRPr>
          </a:p>
          <a:p>
            <a:pPr>
              <a:lnSpc>
                <a:spcPct val="112000"/>
              </a:lnSpc>
              <a:spcAft>
                <a:spcPts val="500"/>
              </a:spcAft>
            </a:pPr>
            <a:r>
              <a:rPr lang="da-DK" sz="1400" b="1" dirty="0">
                <a:solidFill>
                  <a:srgbClr val="E8ECF4"/>
                </a:solidFill>
                <a:latin typeface="Arial"/>
              </a:rPr>
              <a:t>Norm is not constrained to these components: </a:t>
            </a:r>
            <a:r>
              <a:rPr lang="da-DK" sz="1400" dirty="0">
                <a:solidFill>
                  <a:srgbClr val="8A93A8"/>
                </a:solidFill>
                <a:latin typeface="Arial"/>
              </a:rPr>
              <a:t>The causally importants do not alone contain 80% of the layer norm.</a:t>
            </a:r>
          </a:p>
        </p:txBody>
      </p:sp>
      <p:pic>
        <p:nvPicPr>
          <p:cNvPr id="3" name="Picture 2">
            <a:extLst>
              <a:ext uri="{FF2B5EF4-FFF2-40B4-BE49-F238E27FC236}">
                <a16:creationId xmlns:a16="http://schemas.microsoft.com/office/drawing/2014/main" id="{E8CB1A75-9C61-D70F-2D72-2A384DB37D83}"/>
              </a:ext>
            </a:extLst>
          </p:cNvPr>
          <p:cNvPicPr>
            <a:picLocks noChangeAspect="1"/>
          </p:cNvPicPr>
          <p:nvPr/>
        </p:nvPicPr>
        <p:blipFill>
          <a:blip r:embed="rId4"/>
          <a:stretch>
            <a:fillRect/>
          </a:stretch>
        </p:blipFill>
        <p:spPr>
          <a:xfrm>
            <a:off x="457200" y="2330450"/>
            <a:ext cx="2286117" cy="2364807"/>
          </a:xfrm>
          <a:prstGeom prst="rect">
            <a:avLst/>
          </a:prstGeom>
        </p:spPr>
      </p:pic>
    </p:spTree>
    <p:extLst>
      <p:ext uri="{BB962C8B-B14F-4D97-AF65-F5344CB8AC3E}">
        <p14:creationId xmlns:p14="http://schemas.microsoft.com/office/powerpoint/2010/main" val="1990948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141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2E2EEB-8884-43B7-BACA-2DBA90DD552A}"/>
              </a:ext>
            </a:extLst>
          </p:cNvPr>
          <p:cNvPicPr>
            <a:picLocks noChangeAspect="1"/>
          </p:cNvPicPr>
          <p:nvPr/>
        </p:nvPicPr>
        <p:blipFill>
          <a:blip r:embed="rId3"/>
          <a:stretch>
            <a:fillRect/>
          </a:stretch>
        </p:blipFill>
        <p:spPr>
          <a:xfrm>
            <a:off x="5142570" y="2390327"/>
            <a:ext cx="3442630" cy="2567940"/>
          </a:xfrm>
          <a:prstGeom prst="rect">
            <a:avLst/>
          </a:prstGeom>
        </p:spPr>
      </p:pic>
      <p:sp>
        <p:nvSpPr>
          <p:cNvPr id="5" name="TextBox 4"/>
          <p:cNvSpPr txBox="1"/>
          <p:nvPr/>
        </p:nvSpPr>
        <p:spPr>
          <a:xfrm>
            <a:off x="457200" y="292608"/>
            <a:ext cx="8229600" cy="400110"/>
          </a:xfrm>
          <a:prstGeom prst="rect">
            <a:avLst/>
          </a:prstGeom>
          <a:noFill/>
        </p:spPr>
        <p:txBody>
          <a:bodyPr wrap="square" lIns="0" tIns="0" rIns="0" bIns="0">
            <a:spAutoFit/>
          </a:bodyPr>
          <a:lstStyle/>
          <a:p>
            <a:r>
              <a:rPr lang="da-DK" sz="2600" b="1" dirty="0">
                <a:solidFill>
                  <a:srgbClr val="E8ECF4"/>
                </a:solidFill>
                <a:latin typeface="Arial"/>
              </a:rPr>
              <a:t>Find 4: </a:t>
            </a:r>
            <a:r>
              <a:rPr sz="2600" b="1" dirty="0">
                <a:solidFill>
                  <a:srgbClr val="E8ECF4"/>
                </a:solidFill>
                <a:latin typeface="Arial"/>
              </a:rPr>
              <a:t>RSP</a:t>
            </a:r>
            <a:r>
              <a:rPr lang="da-DK" sz="2600" b="1" dirty="0">
                <a:solidFill>
                  <a:srgbClr val="E8ECF4"/>
                </a:solidFill>
                <a:latin typeface="Arial"/>
              </a:rPr>
              <a:t>Ds</a:t>
            </a:r>
            <a:r>
              <a:rPr sz="2600" b="1" dirty="0">
                <a:solidFill>
                  <a:srgbClr val="E8ECF4"/>
                </a:solidFill>
                <a:latin typeface="Arial"/>
              </a:rPr>
              <a:t> importance structure</a:t>
            </a:r>
          </a:p>
        </p:txBody>
      </p:sp>
      <p:sp>
        <p:nvSpPr>
          <p:cNvPr id="7" name="TextBox 6"/>
          <p:cNvSpPr txBox="1"/>
          <p:nvPr/>
        </p:nvSpPr>
        <p:spPr>
          <a:xfrm>
            <a:off x="457200" y="844296"/>
            <a:ext cx="8547100" cy="1851469"/>
          </a:xfrm>
          <a:prstGeom prst="rect">
            <a:avLst/>
          </a:prstGeom>
          <a:noFill/>
        </p:spPr>
        <p:txBody>
          <a:bodyPr wrap="square" lIns="0" tIns="0" rIns="0" bIns="0">
            <a:spAutoFit/>
          </a:bodyPr>
          <a:lstStyle/>
          <a:p>
            <a:pPr>
              <a:lnSpc>
                <a:spcPct val="112000"/>
              </a:lnSpc>
              <a:spcAft>
                <a:spcPts val="1100"/>
              </a:spcAft>
            </a:pPr>
            <a:r>
              <a:rPr lang="da-DK" sz="1400" b="1" dirty="0">
                <a:solidFill>
                  <a:srgbClr val="E8ECF4"/>
                </a:solidFill>
                <a:latin typeface="Arial"/>
              </a:rPr>
              <a:t>R</a:t>
            </a:r>
            <a:r>
              <a:rPr sz="1400" b="1" dirty="0" err="1">
                <a:solidFill>
                  <a:srgbClr val="E8ECF4"/>
                </a:solidFill>
                <a:latin typeface="Arial"/>
              </a:rPr>
              <a:t>ank</a:t>
            </a:r>
            <a:r>
              <a:rPr sz="1400" b="1" dirty="0">
                <a:solidFill>
                  <a:srgbClr val="E8ECF4"/>
                </a:solidFill>
                <a:latin typeface="Arial"/>
              </a:rPr>
              <a:t> increase</a:t>
            </a:r>
            <a:r>
              <a:rPr lang="da-DK" sz="1400" b="1" dirty="0">
                <a:solidFill>
                  <a:srgbClr val="E8ECF4"/>
                </a:solidFill>
                <a:latin typeface="Arial"/>
              </a:rPr>
              <a:t>:</a:t>
            </a:r>
            <a:r>
              <a:rPr sz="1400" dirty="0">
                <a:solidFill>
                  <a:srgbClr val="8A93A8"/>
                </a:solidFill>
                <a:latin typeface="Arial"/>
              </a:rPr>
              <a:t> a single subcomponent is causally important for the entire</a:t>
            </a:r>
            <a:r>
              <a:rPr lang="da-DK" sz="1400" dirty="0">
                <a:solidFill>
                  <a:srgbClr val="8A93A8"/>
                </a:solidFill>
                <a:latin typeface="Arial"/>
              </a:rPr>
              <a:t> simplex</a:t>
            </a:r>
            <a:r>
              <a:rPr sz="1400" dirty="0">
                <a:solidFill>
                  <a:srgbClr val="8A93A8"/>
                </a:solidFill>
                <a:latin typeface="Arial"/>
              </a:rPr>
              <a:t>.</a:t>
            </a:r>
          </a:p>
          <a:p>
            <a:pPr>
              <a:lnSpc>
                <a:spcPct val="112000"/>
              </a:lnSpc>
              <a:spcAft>
                <a:spcPts val="1100"/>
              </a:spcAft>
            </a:pPr>
            <a:r>
              <a:rPr sz="1400" b="1" dirty="0">
                <a:solidFill>
                  <a:srgbClr val="E8ECF4"/>
                </a:solidFill>
                <a:latin typeface="Arial"/>
              </a:rPr>
              <a:t>The expectation: </a:t>
            </a:r>
            <a:r>
              <a:rPr sz="1400" dirty="0">
                <a:solidFill>
                  <a:srgbClr val="8A93A8"/>
                </a:solidFill>
                <a:latin typeface="Arial"/>
              </a:rPr>
              <a:t>routing an input through only the causally important subcomponents should reconstruct on its own. It is still off by a fair margin.</a:t>
            </a:r>
          </a:p>
          <a:p>
            <a:pPr>
              <a:lnSpc>
                <a:spcPct val="112000"/>
              </a:lnSpc>
              <a:spcAft>
                <a:spcPts val="1100"/>
              </a:spcAft>
            </a:pPr>
            <a:r>
              <a:rPr lang="da-DK" sz="1400" b="1" dirty="0">
                <a:solidFill>
                  <a:srgbClr val="E8ECF4"/>
                </a:solidFill>
                <a:latin typeface="Arial"/>
              </a:rPr>
              <a:t>Observation</a:t>
            </a:r>
            <a:r>
              <a:rPr sz="1400" b="1" dirty="0">
                <a:solidFill>
                  <a:srgbClr val="E8ECF4"/>
                </a:solidFill>
                <a:latin typeface="Arial"/>
              </a:rPr>
              <a:t>:</a:t>
            </a:r>
            <a:r>
              <a:rPr lang="da-DK" sz="1400" b="1" dirty="0">
                <a:solidFill>
                  <a:srgbClr val="E8ECF4"/>
                </a:solidFill>
                <a:latin typeface="Arial"/>
              </a:rPr>
              <a:t> </a:t>
            </a:r>
            <a:r>
              <a:rPr lang="da-DK" sz="1400" dirty="0">
                <a:solidFill>
                  <a:srgbClr val="8A93A8"/>
                </a:solidFill>
                <a:latin typeface="Arial"/>
              </a:rPr>
              <a:t>Many subcomponents are required to sum up to the total layer norm, whereby causally unimportant subcomponents must still contribute meaningfully.</a:t>
            </a:r>
          </a:p>
          <a:p>
            <a:pPr>
              <a:lnSpc>
                <a:spcPct val="112000"/>
              </a:lnSpc>
              <a:spcAft>
                <a:spcPts val="1100"/>
              </a:spcAft>
            </a:pPr>
            <a:endParaRPr sz="1400" dirty="0">
              <a:solidFill>
                <a:srgbClr val="8A93A8"/>
              </a:solidFill>
              <a:latin typeface="Arial"/>
            </a:endParaRPr>
          </a:p>
        </p:txBody>
      </p:sp>
      <p:pic>
        <p:nvPicPr>
          <p:cNvPr id="2" name="Picture 1">
            <a:extLst>
              <a:ext uri="{FF2B5EF4-FFF2-40B4-BE49-F238E27FC236}">
                <a16:creationId xmlns:a16="http://schemas.microsoft.com/office/drawing/2014/main" id="{76E56F65-28DE-3DF7-1CD8-2A472C96AB08}"/>
              </a:ext>
            </a:extLst>
          </p:cNvPr>
          <p:cNvPicPr>
            <a:picLocks noChangeAspect="1"/>
          </p:cNvPicPr>
          <p:nvPr/>
        </p:nvPicPr>
        <p:blipFill>
          <a:blip r:embed="rId4"/>
          <a:stretch>
            <a:fillRect/>
          </a:stretch>
        </p:blipFill>
        <p:spPr>
          <a:xfrm>
            <a:off x="457200" y="2390328"/>
            <a:ext cx="1807533" cy="2567940"/>
          </a:xfrm>
          <a:prstGeom prst="rect">
            <a:avLst/>
          </a:prstGeom>
        </p:spPr>
      </p:pic>
    </p:spTree>
    <p:extLst>
      <p:ext uri="{BB962C8B-B14F-4D97-AF65-F5344CB8AC3E}">
        <p14:creationId xmlns:p14="http://schemas.microsoft.com/office/powerpoint/2010/main" val="980015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141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400110"/>
          </a:xfrm>
          <a:prstGeom prst="rect">
            <a:avLst/>
          </a:prstGeom>
          <a:noFill/>
        </p:spPr>
        <p:txBody>
          <a:bodyPr wrap="square" lIns="0" tIns="0" rIns="0" bIns="0">
            <a:spAutoFit/>
          </a:bodyPr>
          <a:lstStyle/>
          <a:p>
            <a:r>
              <a:rPr lang="da-DK" sz="2600" b="1" dirty="0">
                <a:solidFill>
                  <a:srgbClr val="E8ECF4"/>
                </a:solidFill>
                <a:latin typeface="Arial"/>
              </a:rPr>
              <a:t>Find 5: Is rank 1 minimal?</a:t>
            </a:r>
            <a:endParaRPr sz="2600" b="1" dirty="0">
              <a:solidFill>
                <a:srgbClr val="E8ECF4"/>
              </a:solidFill>
              <a:latin typeface="Arial"/>
            </a:endParaRPr>
          </a:p>
        </p:txBody>
      </p:sp>
      <p:sp>
        <p:nvSpPr>
          <p:cNvPr id="3" name="TextBox 2"/>
          <p:cNvSpPr txBox="1"/>
          <p:nvPr/>
        </p:nvSpPr>
        <p:spPr>
          <a:xfrm>
            <a:off x="457200" y="768096"/>
            <a:ext cx="8229600" cy="274320"/>
          </a:xfrm>
          <a:prstGeom prst="rect">
            <a:avLst/>
          </a:prstGeom>
          <a:noFill/>
        </p:spPr>
        <p:txBody>
          <a:bodyPr wrap="square" lIns="0" tIns="0" rIns="0" bIns="0">
            <a:spAutoFit/>
          </a:bodyPr>
          <a:lstStyle/>
          <a:p>
            <a:r>
              <a:rPr sz="1300" dirty="0">
                <a:solidFill>
                  <a:srgbClr val="8A93A8"/>
                </a:solidFill>
                <a:latin typeface="Arial"/>
              </a:rPr>
              <a:t>Shared directions become shared subcomponents</a:t>
            </a:r>
          </a:p>
        </p:txBody>
      </p:sp>
      <p:sp>
        <p:nvSpPr>
          <p:cNvPr id="4" name="TextBox 3"/>
          <p:cNvSpPr txBox="1"/>
          <p:nvPr/>
        </p:nvSpPr>
        <p:spPr>
          <a:xfrm>
            <a:off x="457200" y="1193314"/>
            <a:ext cx="3327400" cy="3620158"/>
          </a:xfrm>
          <a:prstGeom prst="rect">
            <a:avLst/>
          </a:prstGeom>
          <a:noFill/>
        </p:spPr>
        <p:txBody>
          <a:bodyPr wrap="square" lIns="0" tIns="0" rIns="0" bIns="0">
            <a:spAutoFit/>
          </a:bodyPr>
          <a:lstStyle/>
          <a:p>
            <a:pPr>
              <a:lnSpc>
                <a:spcPct val="112000"/>
              </a:lnSpc>
              <a:spcAft>
                <a:spcPts val="1400"/>
              </a:spcAft>
            </a:pPr>
            <a:r>
              <a:rPr sz="1500" b="1" dirty="0">
                <a:solidFill>
                  <a:srgbClr val="E8ECF4"/>
                </a:solidFill>
                <a:latin typeface="Arial"/>
              </a:rPr>
              <a:t>Paired TMS: </a:t>
            </a:r>
            <a:r>
              <a:rPr sz="1500" dirty="0">
                <a:solidFill>
                  <a:srgbClr val="8A93A8"/>
                </a:solidFill>
                <a:latin typeface="Arial"/>
              </a:rPr>
              <a:t>the model learns to align multiple </a:t>
            </a:r>
            <a:r>
              <a:rPr lang="da-DK" sz="1500" dirty="0">
                <a:solidFill>
                  <a:srgbClr val="8A93A8"/>
                </a:solidFill>
                <a:latin typeface="Arial"/>
              </a:rPr>
              <a:t>inputs </a:t>
            </a:r>
            <a:r>
              <a:rPr sz="1500" dirty="0">
                <a:solidFill>
                  <a:srgbClr val="8A93A8"/>
                </a:solidFill>
                <a:latin typeface="Arial"/>
              </a:rPr>
              <a:t>onto the same direction.</a:t>
            </a:r>
            <a:endParaRPr lang="da-DK" sz="1500" dirty="0">
              <a:solidFill>
                <a:srgbClr val="8A93A8"/>
              </a:solidFill>
              <a:latin typeface="Arial"/>
            </a:endParaRPr>
          </a:p>
          <a:p>
            <a:pPr>
              <a:lnSpc>
                <a:spcPct val="112000"/>
              </a:lnSpc>
              <a:spcAft>
                <a:spcPts val="1400"/>
              </a:spcAft>
            </a:pPr>
            <a:r>
              <a:rPr lang="da-DK" sz="1500" b="1" dirty="0">
                <a:solidFill>
                  <a:srgbClr val="E8ECF4"/>
                </a:solidFill>
                <a:latin typeface="Arial"/>
              </a:rPr>
              <a:t>Decomposition structure</a:t>
            </a:r>
            <a:r>
              <a:rPr sz="1500" b="1" dirty="0">
                <a:solidFill>
                  <a:srgbClr val="E8ECF4"/>
                </a:solidFill>
                <a:latin typeface="Arial"/>
              </a:rPr>
              <a:t>: </a:t>
            </a:r>
            <a:r>
              <a:rPr sz="1500" dirty="0">
                <a:solidFill>
                  <a:srgbClr val="8A93A8"/>
                </a:solidFill>
                <a:latin typeface="Arial"/>
              </a:rPr>
              <a:t>both</a:t>
            </a:r>
            <a:r>
              <a:rPr lang="da-DK" sz="1500" dirty="0">
                <a:solidFill>
                  <a:srgbClr val="8A93A8"/>
                </a:solidFill>
                <a:latin typeface="Arial"/>
              </a:rPr>
              <a:t> RSPD and SPD</a:t>
            </a:r>
            <a:r>
              <a:rPr sz="1500" dirty="0">
                <a:solidFill>
                  <a:srgbClr val="8A93A8"/>
                </a:solidFill>
                <a:latin typeface="Arial"/>
              </a:rPr>
              <a:t> align the</a:t>
            </a:r>
            <a:r>
              <a:rPr lang="da-DK" sz="1500" dirty="0">
                <a:solidFill>
                  <a:srgbClr val="8A93A8"/>
                </a:solidFill>
                <a:latin typeface="Arial"/>
              </a:rPr>
              <a:t> inputs</a:t>
            </a:r>
            <a:r>
              <a:rPr sz="1500" dirty="0">
                <a:solidFill>
                  <a:srgbClr val="8A93A8"/>
                </a:solidFill>
                <a:latin typeface="Arial"/>
              </a:rPr>
              <a:t> onto the same</a:t>
            </a:r>
            <a:r>
              <a:rPr lang="da-DK" sz="1500" dirty="0">
                <a:solidFill>
                  <a:srgbClr val="8A93A8"/>
                </a:solidFill>
                <a:latin typeface="Arial"/>
              </a:rPr>
              <a:t> rank-1</a:t>
            </a:r>
            <a:r>
              <a:rPr sz="1500" dirty="0">
                <a:solidFill>
                  <a:srgbClr val="8A93A8"/>
                </a:solidFill>
                <a:latin typeface="Arial"/>
              </a:rPr>
              <a:t> subcomponent</a:t>
            </a:r>
            <a:r>
              <a:rPr lang="da-DK" sz="1500" dirty="0">
                <a:solidFill>
                  <a:srgbClr val="8A93A8"/>
                </a:solidFill>
                <a:latin typeface="Arial"/>
              </a:rPr>
              <a:t>.</a:t>
            </a:r>
          </a:p>
          <a:p>
            <a:pPr>
              <a:lnSpc>
                <a:spcPct val="112000"/>
              </a:lnSpc>
              <a:spcAft>
                <a:spcPts val="1400"/>
              </a:spcAft>
            </a:pPr>
            <a:r>
              <a:rPr sz="1500" b="1" dirty="0">
                <a:solidFill>
                  <a:srgbClr val="E8ECF4"/>
                </a:solidFill>
                <a:latin typeface="Arial"/>
              </a:rPr>
              <a:t>Concurrent work: </a:t>
            </a:r>
            <a:r>
              <a:rPr sz="1500" dirty="0">
                <a:solidFill>
                  <a:srgbClr val="8A93A8"/>
                </a:solidFill>
                <a:latin typeface="Arial"/>
              </a:rPr>
              <a:t>finds the same phenomenon, </a:t>
            </a:r>
            <a:r>
              <a:rPr lang="da-DK" sz="1500" dirty="0">
                <a:solidFill>
                  <a:srgbClr val="8A93A8"/>
                </a:solidFill>
                <a:latin typeface="Arial"/>
              </a:rPr>
              <a:t>where features with disjoint support are grouped in the same subcomponent. </a:t>
            </a:r>
          </a:p>
          <a:p>
            <a:pPr>
              <a:lnSpc>
                <a:spcPct val="112000"/>
              </a:lnSpc>
              <a:spcAft>
                <a:spcPts val="1400"/>
              </a:spcAft>
            </a:pPr>
            <a:r>
              <a:rPr lang="da-DK" sz="1500" dirty="0">
                <a:solidFill>
                  <a:srgbClr val="8A93A8"/>
                </a:solidFill>
                <a:latin typeface="Arial"/>
              </a:rPr>
              <a:t>One rank 1 subcomponent causally important for all three, with no incentive to split into these parts.</a:t>
            </a:r>
            <a:endParaRPr sz="1500" dirty="0">
              <a:solidFill>
                <a:srgbClr val="8A93A8"/>
              </a:solidFill>
              <a:latin typeface="Arial"/>
            </a:endParaRPr>
          </a:p>
        </p:txBody>
      </p:sp>
      <p:pic>
        <p:nvPicPr>
          <p:cNvPr id="6" name="Picture 5">
            <a:extLst>
              <a:ext uri="{FF2B5EF4-FFF2-40B4-BE49-F238E27FC236}">
                <a16:creationId xmlns:a16="http://schemas.microsoft.com/office/drawing/2014/main" id="{6B90E57A-3C94-6BB7-4BC3-77E264FA1253}"/>
              </a:ext>
            </a:extLst>
          </p:cNvPr>
          <p:cNvPicPr>
            <a:picLocks noChangeAspect="1"/>
          </p:cNvPicPr>
          <p:nvPr/>
        </p:nvPicPr>
        <p:blipFill>
          <a:blip r:embed="rId3"/>
          <a:stretch>
            <a:fillRect/>
          </a:stretch>
        </p:blipFill>
        <p:spPr>
          <a:xfrm>
            <a:off x="5478781" y="292608"/>
            <a:ext cx="2787793" cy="3111660"/>
          </a:xfrm>
          <a:prstGeom prst="rect">
            <a:avLst/>
          </a:prstGeom>
        </p:spPr>
      </p:pic>
      <p:pic>
        <p:nvPicPr>
          <p:cNvPr id="7" name="Picture 6">
            <a:extLst>
              <a:ext uri="{FF2B5EF4-FFF2-40B4-BE49-F238E27FC236}">
                <a16:creationId xmlns:a16="http://schemas.microsoft.com/office/drawing/2014/main" id="{9E71B9A6-7536-7D07-D238-4C639DFEBE83}"/>
              </a:ext>
            </a:extLst>
          </p:cNvPr>
          <p:cNvPicPr>
            <a:picLocks noChangeAspect="1"/>
          </p:cNvPicPr>
          <p:nvPr/>
        </p:nvPicPr>
        <p:blipFill>
          <a:blip r:embed="rId4"/>
          <a:stretch>
            <a:fillRect/>
          </a:stretch>
        </p:blipFill>
        <p:spPr>
          <a:xfrm>
            <a:off x="5552999" y="3479646"/>
            <a:ext cx="2940201" cy="1466925"/>
          </a:xfrm>
          <a:prstGeom prst="rect">
            <a:avLst/>
          </a:prstGeom>
        </p:spPr>
      </p:pic>
    </p:spTree>
    <p:extLst>
      <p:ext uri="{BB962C8B-B14F-4D97-AF65-F5344CB8AC3E}">
        <p14:creationId xmlns:p14="http://schemas.microsoft.com/office/powerpoint/2010/main" val="1665136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0141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475488"/>
          </a:xfrm>
          <a:prstGeom prst="rect">
            <a:avLst/>
          </a:prstGeom>
          <a:noFill/>
        </p:spPr>
        <p:txBody>
          <a:bodyPr wrap="square" lIns="0" tIns="0" rIns="0" bIns="0">
            <a:spAutoFit/>
          </a:bodyPr>
          <a:lstStyle/>
          <a:p>
            <a:r>
              <a:rPr sz="2600" b="1">
                <a:solidFill>
                  <a:srgbClr val="E8ECF4"/>
                </a:solidFill>
                <a:latin typeface="Arial"/>
              </a:rPr>
              <a:t>Broader rank ambiguity</a:t>
            </a:r>
          </a:p>
        </p:txBody>
      </p:sp>
      <p:sp>
        <p:nvSpPr>
          <p:cNvPr id="4" name="TextBox 3"/>
          <p:cNvSpPr txBox="1"/>
          <p:nvPr/>
        </p:nvSpPr>
        <p:spPr>
          <a:xfrm>
            <a:off x="457200" y="1115568"/>
            <a:ext cx="8229600" cy="1040221"/>
          </a:xfrm>
          <a:prstGeom prst="rect">
            <a:avLst/>
          </a:prstGeom>
          <a:noFill/>
        </p:spPr>
        <p:txBody>
          <a:bodyPr wrap="square" lIns="0" tIns="0" rIns="0" bIns="0">
            <a:spAutoFit/>
          </a:bodyPr>
          <a:lstStyle/>
          <a:p>
            <a:pPr>
              <a:lnSpc>
                <a:spcPct val="112000"/>
              </a:lnSpc>
              <a:spcAft>
                <a:spcPts val="500"/>
              </a:spcAft>
            </a:pPr>
            <a:r>
              <a:rPr sz="1350" b="1" dirty="0">
                <a:solidFill>
                  <a:srgbClr val="E8ECF4"/>
                </a:solidFill>
                <a:latin typeface="Arial"/>
              </a:rPr>
              <a:t>Occupancy: </a:t>
            </a:r>
            <a:r>
              <a:rPr sz="1350" dirty="0">
                <a:solidFill>
                  <a:srgbClr val="8A93A8"/>
                </a:solidFill>
                <a:latin typeface="Arial"/>
              </a:rPr>
              <a:t>the rank a subcomponent can capture also ties into how much it can occupy.</a:t>
            </a:r>
          </a:p>
          <a:p>
            <a:pPr>
              <a:lnSpc>
                <a:spcPct val="112000"/>
              </a:lnSpc>
              <a:spcAft>
                <a:spcPts val="500"/>
              </a:spcAft>
            </a:pPr>
            <a:r>
              <a:rPr sz="1350" b="1" dirty="0">
                <a:solidFill>
                  <a:srgbClr val="E8ECF4"/>
                </a:solidFill>
                <a:latin typeface="Arial"/>
              </a:rPr>
              <a:t>The risk: </a:t>
            </a:r>
            <a:r>
              <a:rPr sz="1350" dirty="0">
                <a:solidFill>
                  <a:srgbClr val="8A93A8"/>
                </a:solidFill>
                <a:latin typeface="Arial"/>
              </a:rPr>
              <a:t>a rank-2 subcomponent can learn the basis of a 2-D subspace and be causally important for everything within it, even two independent rank-1 features.</a:t>
            </a:r>
            <a:endParaRPr lang="da-DK" sz="1350" dirty="0">
              <a:solidFill>
                <a:srgbClr val="8A93A8"/>
              </a:solidFill>
              <a:latin typeface="Arial"/>
            </a:endParaRPr>
          </a:p>
          <a:p>
            <a:pPr>
              <a:lnSpc>
                <a:spcPct val="112000"/>
              </a:lnSpc>
              <a:spcAft>
                <a:spcPts val="500"/>
              </a:spcAft>
            </a:pPr>
            <a:r>
              <a:rPr lang="da-DK" sz="1350" b="1" dirty="0">
                <a:solidFill>
                  <a:srgbClr val="E8ECF4"/>
                </a:solidFill>
                <a:latin typeface="Arial"/>
              </a:rPr>
              <a:t>Back to rank 1?</a:t>
            </a:r>
            <a:r>
              <a:rPr lang="da-DK" sz="1350" dirty="0">
                <a:solidFill>
                  <a:srgbClr val="E8ECF4"/>
                </a:solidFill>
                <a:latin typeface="Arial"/>
              </a:rPr>
              <a:t>: </a:t>
            </a:r>
            <a:r>
              <a:rPr lang="da-DK" sz="1350" dirty="0">
                <a:solidFill>
                  <a:srgbClr val="8A93A8"/>
                </a:solidFill>
                <a:latin typeface="Arial"/>
              </a:rPr>
              <a:t>Not a solution, as the concurrent work shows it can happen even at rank 1..</a:t>
            </a:r>
            <a:endParaRPr sz="1350" b="1" dirty="0">
              <a:solidFill>
                <a:srgbClr val="8A93A8"/>
              </a:solidFill>
              <a:latin typeface="Arial"/>
            </a:endParaRPr>
          </a:p>
        </p:txBody>
      </p:sp>
      <p:pic>
        <p:nvPicPr>
          <p:cNvPr id="9" name="Picture 8">
            <a:extLst>
              <a:ext uri="{FF2B5EF4-FFF2-40B4-BE49-F238E27FC236}">
                <a16:creationId xmlns:a16="http://schemas.microsoft.com/office/drawing/2014/main" id="{B2DF0A5C-18BF-AF9A-0CC5-E6C9FA99943F}"/>
              </a:ext>
            </a:extLst>
          </p:cNvPr>
          <p:cNvPicPr>
            <a:picLocks noChangeAspect="1"/>
          </p:cNvPicPr>
          <p:nvPr/>
        </p:nvPicPr>
        <p:blipFill>
          <a:blip r:embed="rId3"/>
          <a:stretch>
            <a:fillRect/>
          </a:stretch>
        </p:blipFill>
        <p:spPr>
          <a:xfrm>
            <a:off x="7594694" y="3679802"/>
            <a:ext cx="711237" cy="882695"/>
          </a:xfrm>
          <a:prstGeom prst="rect">
            <a:avLst/>
          </a:prstGeom>
        </p:spPr>
      </p:pic>
      <p:pic>
        <p:nvPicPr>
          <p:cNvPr id="11" name="Picture 10">
            <a:extLst>
              <a:ext uri="{FF2B5EF4-FFF2-40B4-BE49-F238E27FC236}">
                <a16:creationId xmlns:a16="http://schemas.microsoft.com/office/drawing/2014/main" id="{976179E3-97BE-8B23-3B2B-A0547C42D10C}"/>
              </a:ext>
            </a:extLst>
          </p:cNvPr>
          <p:cNvPicPr>
            <a:picLocks noChangeAspect="1"/>
          </p:cNvPicPr>
          <p:nvPr/>
        </p:nvPicPr>
        <p:blipFill>
          <a:blip r:embed="rId4"/>
          <a:stretch>
            <a:fillRect/>
          </a:stretch>
        </p:blipFill>
        <p:spPr>
          <a:xfrm>
            <a:off x="457200" y="2130350"/>
            <a:ext cx="7398130" cy="2902099"/>
          </a:xfrm>
          <a:prstGeom prst="rect">
            <a:avLst/>
          </a:prstGeom>
        </p:spPr>
      </p:pic>
    </p:spTree>
    <p:extLst>
      <p:ext uri="{BB962C8B-B14F-4D97-AF65-F5344CB8AC3E}">
        <p14:creationId xmlns:p14="http://schemas.microsoft.com/office/powerpoint/2010/main" val="4018369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10141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400110"/>
          </a:xfrm>
          <a:prstGeom prst="rect">
            <a:avLst/>
          </a:prstGeom>
          <a:noFill/>
        </p:spPr>
        <p:txBody>
          <a:bodyPr wrap="square" lIns="0" tIns="0" rIns="0" bIns="0">
            <a:spAutoFit/>
          </a:bodyPr>
          <a:lstStyle/>
          <a:p>
            <a:r>
              <a:rPr lang="da-DK" sz="2600" b="1" dirty="0">
                <a:solidFill>
                  <a:srgbClr val="E8ECF4"/>
                </a:solidFill>
                <a:latin typeface="Arial"/>
              </a:rPr>
              <a:t>Future work:</a:t>
            </a:r>
            <a:endParaRPr sz="2600" b="1" dirty="0">
              <a:solidFill>
                <a:srgbClr val="E8ECF4"/>
              </a:solidFill>
              <a:latin typeface="Arial"/>
            </a:endParaRPr>
          </a:p>
        </p:txBody>
      </p:sp>
      <p:sp>
        <p:nvSpPr>
          <p:cNvPr id="4" name="TextBox 3"/>
          <p:cNvSpPr txBox="1"/>
          <p:nvPr/>
        </p:nvSpPr>
        <p:spPr>
          <a:xfrm>
            <a:off x="457200" y="977900"/>
            <a:ext cx="4846320" cy="3570465"/>
          </a:xfrm>
          <a:prstGeom prst="rect">
            <a:avLst/>
          </a:prstGeom>
          <a:noFill/>
        </p:spPr>
        <p:txBody>
          <a:bodyPr wrap="square" lIns="0" tIns="0" rIns="0" bIns="0">
            <a:spAutoFit/>
          </a:bodyPr>
          <a:lstStyle/>
          <a:p>
            <a:pPr>
              <a:lnSpc>
                <a:spcPct val="112000"/>
              </a:lnSpc>
              <a:spcAft>
                <a:spcPts val="1100"/>
              </a:spcAft>
            </a:pPr>
            <a:r>
              <a:rPr sz="1350" b="1" dirty="0">
                <a:solidFill>
                  <a:srgbClr val="E8ECF4"/>
                </a:solidFill>
                <a:latin typeface="Arial"/>
              </a:rPr>
              <a:t>My initial idea: </a:t>
            </a:r>
            <a:r>
              <a:rPr lang="da-DK" sz="1350" b="1" dirty="0">
                <a:solidFill>
                  <a:srgbClr val="8A93A8"/>
                </a:solidFill>
                <a:latin typeface="Arial"/>
              </a:rPr>
              <a:t>A</a:t>
            </a:r>
            <a:r>
              <a:rPr lang="da-DK" sz="1350" dirty="0">
                <a:solidFill>
                  <a:srgbClr val="8A93A8"/>
                </a:solidFill>
                <a:latin typeface="Arial"/>
              </a:rPr>
              <a:t>pply reducibility conditions to define when a layer should be split. </a:t>
            </a:r>
            <a:r>
              <a:rPr sz="1350" dirty="0">
                <a:solidFill>
                  <a:srgbClr val="8A93A8"/>
                </a:solidFill>
                <a:latin typeface="Arial"/>
              </a:rPr>
              <a:t>This gives a dimensional constraint: TMS 5-2 must be partitioned into 5 concepts, but reducibility allows at most 2.</a:t>
            </a:r>
            <a:endParaRPr sz="1350" b="1" dirty="0">
              <a:solidFill>
                <a:srgbClr val="8A93A8"/>
              </a:solidFill>
              <a:latin typeface="Arial"/>
            </a:endParaRPr>
          </a:p>
          <a:p>
            <a:pPr>
              <a:lnSpc>
                <a:spcPct val="112000"/>
              </a:lnSpc>
              <a:spcAft>
                <a:spcPts val="1100"/>
              </a:spcAft>
            </a:pPr>
            <a:r>
              <a:rPr lang="da-DK" sz="1350" b="1" dirty="0">
                <a:solidFill>
                  <a:srgbClr val="E8ECF4"/>
                </a:solidFill>
                <a:latin typeface="Arial"/>
              </a:rPr>
              <a:t>Reducibility conditions + SPD</a:t>
            </a:r>
            <a:r>
              <a:rPr sz="1350" b="1" dirty="0">
                <a:solidFill>
                  <a:srgbClr val="E8ECF4"/>
                </a:solidFill>
                <a:latin typeface="Arial"/>
              </a:rPr>
              <a:t>: </a:t>
            </a:r>
            <a:r>
              <a:rPr lang="da-DK" sz="1350" dirty="0">
                <a:solidFill>
                  <a:srgbClr val="8A93A8"/>
                </a:solidFill>
                <a:latin typeface="Arial"/>
              </a:rPr>
              <a:t>Apply modified reducibility conditions to disentangle the subcomponents that (V)SPD finds.</a:t>
            </a:r>
          </a:p>
          <a:p>
            <a:pPr>
              <a:lnSpc>
                <a:spcPct val="112000"/>
              </a:lnSpc>
              <a:spcAft>
                <a:spcPts val="1100"/>
              </a:spcAft>
            </a:pPr>
            <a:r>
              <a:rPr lang="da-DK" sz="1350" dirty="0">
                <a:solidFill>
                  <a:srgbClr val="8A93A8"/>
                </a:solidFill>
                <a:latin typeface="Arial"/>
              </a:rPr>
              <a:t>In clustering, mixture condition to see if a higher rank subcomponent is in its simplest form?</a:t>
            </a:r>
          </a:p>
          <a:p>
            <a:pPr>
              <a:lnSpc>
                <a:spcPct val="112000"/>
              </a:lnSpc>
              <a:spcAft>
                <a:spcPts val="1100"/>
              </a:spcAft>
            </a:pPr>
            <a:r>
              <a:rPr lang="da-DK" sz="1350" b="1" dirty="0">
                <a:solidFill>
                  <a:srgbClr val="E8ECF4"/>
                </a:solidFill>
                <a:latin typeface="Arial"/>
              </a:rPr>
              <a:t>Pursuing higher rank during training:</a:t>
            </a:r>
            <a:r>
              <a:rPr lang="da-DK" sz="1350" dirty="0">
                <a:solidFill>
                  <a:srgbClr val="E8ECF4"/>
                </a:solidFill>
                <a:latin typeface="Arial"/>
              </a:rPr>
              <a:t> </a:t>
            </a:r>
            <a:r>
              <a:rPr lang="da-DK" sz="1350" dirty="0">
                <a:solidFill>
                  <a:srgbClr val="8A93A8"/>
                </a:solidFill>
                <a:latin typeface="Arial"/>
              </a:rPr>
              <a:t>Other forms of structural pressure and ways to determine the right rank for the task.</a:t>
            </a:r>
          </a:p>
          <a:p>
            <a:pPr>
              <a:lnSpc>
                <a:spcPct val="112000"/>
              </a:lnSpc>
              <a:spcAft>
                <a:spcPts val="1100"/>
              </a:spcAft>
            </a:pPr>
            <a:endParaRPr lang="da-DK" sz="1350" b="1" dirty="0">
              <a:solidFill>
                <a:srgbClr val="8A93A8"/>
              </a:solidFill>
              <a:latin typeface="Arial"/>
            </a:endParaRPr>
          </a:p>
        </p:txBody>
      </p:sp>
      <p:pic>
        <p:nvPicPr>
          <p:cNvPr id="9" name="Picture 8">
            <a:extLst>
              <a:ext uri="{FF2B5EF4-FFF2-40B4-BE49-F238E27FC236}">
                <a16:creationId xmlns:a16="http://schemas.microsoft.com/office/drawing/2014/main" id="{5B719404-3BA8-67E0-F180-D2C52C85A835}"/>
              </a:ext>
            </a:extLst>
          </p:cNvPr>
          <p:cNvPicPr>
            <a:picLocks noChangeAspect="1"/>
          </p:cNvPicPr>
          <p:nvPr/>
        </p:nvPicPr>
        <p:blipFill>
          <a:blip r:embed="rId3"/>
          <a:stretch>
            <a:fillRect/>
          </a:stretch>
        </p:blipFill>
        <p:spPr>
          <a:xfrm>
            <a:off x="5590727" y="977900"/>
            <a:ext cx="2448413" cy="172593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E2F623-A9B7-608A-B806-298778941A8E}"/>
              </a:ext>
            </a:extLst>
          </p:cNvPr>
          <p:cNvPicPr>
            <a:picLocks noChangeAspect="1"/>
          </p:cNvPicPr>
          <p:nvPr/>
        </p:nvPicPr>
        <p:blipFill>
          <a:blip r:embed="rId2"/>
          <a:stretch>
            <a:fillRect/>
          </a:stretch>
        </p:blipFill>
        <p:spPr>
          <a:xfrm>
            <a:off x="0" y="0"/>
            <a:ext cx="8826954" cy="3295819"/>
          </a:xfrm>
          <a:prstGeom prst="rect">
            <a:avLst/>
          </a:prstGeom>
        </p:spPr>
      </p:pic>
      <p:pic>
        <p:nvPicPr>
          <p:cNvPr id="5" name="Picture 4">
            <a:extLst>
              <a:ext uri="{FF2B5EF4-FFF2-40B4-BE49-F238E27FC236}">
                <a16:creationId xmlns:a16="http://schemas.microsoft.com/office/drawing/2014/main" id="{32CF01BC-9148-E85B-44D2-5B2EBA85EBC6}"/>
              </a:ext>
            </a:extLst>
          </p:cNvPr>
          <p:cNvPicPr>
            <a:picLocks noChangeAspect="1"/>
          </p:cNvPicPr>
          <p:nvPr/>
        </p:nvPicPr>
        <p:blipFill>
          <a:blip r:embed="rId2"/>
          <a:stretch>
            <a:fillRect/>
          </a:stretch>
        </p:blipFill>
        <p:spPr>
          <a:xfrm>
            <a:off x="317046" y="0"/>
            <a:ext cx="8826954" cy="3295819"/>
          </a:xfrm>
          <a:prstGeom prst="rect">
            <a:avLst/>
          </a:prstGeom>
        </p:spPr>
      </p:pic>
      <p:pic>
        <p:nvPicPr>
          <p:cNvPr id="7" name="Picture 6">
            <a:extLst>
              <a:ext uri="{FF2B5EF4-FFF2-40B4-BE49-F238E27FC236}">
                <a16:creationId xmlns:a16="http://schemas.microsoft.com/office/drawing/2014/main" id="{224817BF-A015-561C-022F-877D15BEDF20}"/>
              </a:ext>
            </a:extLst>
          </p:cNvPr>
          <p:cNvPicPr>
            <a:picLocks noChangeAspect="1"/>
          </p:cNvPicPr>
          <p:nvPr/>
        </p:nvPicPr>
        <p:blipFill>
          <a:blip r:embed="rId2"/>
          <a:stretch>
            <a:fillRect/>
          </a:stretch>
        </p:blipFill>
        <p:spPr>
          <a:xfrm>
            <a:off x="0" y="1847681"/>
            <a:ext cx="8826954" cy="3295819"/>
          </a:xfrm>
          <a:prstGeom prst="rect">
            <a:avLst/>
          </a:prstGeom>
        </p:spPr>
      </p:pic>
      <p:pic>
        <p:nvPicPr>
          <p:cNvPr id="9" name="Picture 8">
            <a:extLst>
              <a:ext uri="{FF2B5EF4-FFF2-40B4-BE49-F238E27FC236}">
                <a16:creationId xmlns:a16="http://schemas.microsoft.com/office/drawing/2014/main" id="{B21F9CC3-9A5B-9754-78D1-3FBD1969ECCC}"/>
              </a:ext>
            </a:extLst>
          </p:cNvPr>
          <p:cNvPicPr>
            <a:picLocks noChangeAspect="1"/>
          </p:cNvPicPr>
          <p:nvPr/>
        </p:nvPicPr>
        <p:blipFill>
          <a:blip r:embed="rId2"/>
          <a:stretch>
            <a:fillRect/>
          </a:stretch>
        </p:blipFill>
        <p:spPr>
          <a:xfrm>
            <a:off x="317046" y="1847681"/>
            <a:ext cx="8826954" cy="3295819"/>
          </a:xfrm>
          <a:prstGeom prst="rect">
            <a:avLst/>
          </a:prstGeom>
        </p:spPr>
      </p:pic>
      <p:pic>
        <p:nvPicPr>
          <p:cNvPr id="13" name="Picture 12">
            <a:extLst>
              <a:ext uri="{FF2B5EF4-FFF2-40B4-BE49-F238E27FC236}">
                <a16:creationId xmlns:a16="http://schemas.microsoft.com/office/drawing/2014/main" id="{0413FD45-152A-A54C-9C4A-DDDCB82A9FDF}"/>
              </a:ext>
            </a:extLst>
          </p:cNvPr>
          <p:cNvPicPr>
            <a:picLocks noChangeAspect="1"/>
          </p:cNvPicPr>
          <p:nvPr/>
        </p:nvPicPr>
        <p:blipFill>
          <a:blip r:embed="rId3"/>
          <a:stretch>
            <a:fillRect/>
          </a:stretch>
        </p:blipFill>
        <p:spPr>
          <a:xfrm>
            <a:off x="61060" y="0"/>
            <a:ext cx="4858095" cy="5143500"/>
          </a:xfrm>
          <a:prstGeom prst="rect">
            <a:avLst/>
          </a:prstGeom>
        </p:spPr>
      </p:pic>
    </p:spTree>
    <p:extLst>
      <p:ext uri="{BB962C8B-B14F-4D97-AF65-F5344CB8AC3E}">
        <p14:creationId xmlns:p14="http://schemas.microsoft.com/office/powerpoint/2010/main" val="3160060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3150</TotalTime>
  <Words>3261</Words>
  <Application>Microsoft Office PowerPoint</Application>
  <PresentationFormat>On-screen Show (16:9)</PresentationFormat>
  <Paragraphs>134</Paragraphs>
  <Slides>20</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Parameter decomposition: thesis presentation (slides 1-12)</dc:title>
  <dc:subject>PptxGenJS Presentation</dc:subject>
  <dc:creator>PptxGenJS</dc:creator>
  <cp:lastModifiedBy>Knud Sønderbek</cp:lastModifiedBy>
  <cp:revision>18</cp:revision>
  <dcterms:created xsi:type="dcterms:W3CDTF">2026-06-12T06:32:13Z</dcterms:created>
  <dcterms:modified xsi:type="dcterms:W3CDTF">2026-06-16T09:14:18Z</dcterms:modified>
</cp:coreProperties>
</file>